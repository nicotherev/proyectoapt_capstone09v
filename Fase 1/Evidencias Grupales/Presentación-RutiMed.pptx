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Raleway Bold" charset="1" panose="00000000000000000000"/>
      <p:regular r:id="rId26"/>
    </p:embeddedFont>
    <p:embeddedFont>
      <p:font typeface="Raleway Medium" charset="1" panose="00000000000000000000"/>
      <p:regular r:id="rId27"/>
    </p:embeddedFont>
    <p:embeddedFont>
      <p:font typeface="Raleway" charset="1" panose="00000000000000000000"/>
      <p:regular r:id="rId28"/>
    </p:embeddedFont>
    <p:embeddedFont>
      <p:font typeface="Raleway Semi-Bold" charset="1" panose="00000000000000000000"/>
      <p:regular r:id="rId29"/>
    </p:embeddedFont>
    <p:embeddedFont>
      <p:font typeface="Codec Pro Bold" charset="1" panose="00000600000000000000"/>
      <p:regular r:id="rId30"/>
    </p:embeddedFont>
    <p:embeddedFont>
      <p:font typeface="Codec Pro" charset="1" panose="000005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99346" y="1119935"/>
            <a:ext cx="8076499" cy="8047130"/>
          </a:xfrm>
          <a:custGeom>
            <a:avLst/>
            <a:gdLst/>
            <a:ahLst/>
            <a:cxnLst/>
            <a:rect r="r" b="b" t="t" l="l"/>
            <a:pathLst>
              <a:path h="8047130" w="8076499">
                <a:moveTo>
                  <a:pt x="0" y="0"/>
                </a:moveTo>
                <a:lnTo>
                  <a:pt x="8076499" y="0"/>
                </a:lnTo>
                <a:lnTo>
                  <a:pt x="8076499" y="8047130"/>
                </a:lnTo>
                <a:lnTo>
                  <a:pt x="0" y="80471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237575" y="246357"/>
            <a:ext cx="3438270" cy="782343"/>
          </a:xfrm>
          <a:custGeom>
            <a:avLst/>
            <a:gdLst/>
            <a:ahLst/>
            <a:cxnLst/>
            <a:rect r="r" b="b" t="t" l="l"/>
            <a:pathLst>
              <a:path h="782343" w="3438270">
                <a:moveTo>
                  <a:pt x="0" y="0"/>
                </a:moveTo>
                <a:lnTo>
                  <a:pt x="3438270" y="0"/>
                </a:lnTo>
                <a:lnTo>
                  <a:pt x="3438270" y="782343"/>
                </a:lnTo>
                <a:lnTo>
                  <a:pt x="0" y="782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6789" r="0" b="-17269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24000" y="3035395"/>
            <a:ext cx="7103691" cy="2421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9181"/>
              </a:lnSpc>
              <a:spcBef>
                <a:spcPct val="0"/>
              </a:spcBef>
            </a:pPr>
            <a:r>
              <a:rPr lang="en-US" b="true" sz="9980" spc="-459" strike="noStrike" u="none">
                <a:solidFill>
                  <a:srgbClr val="1A7FA8"/>
                </a:solidFill>
                <a:latin typeface="Raleway Bold"/>
                <a:ea typeface="Raleway Bold"/>
                <a:cs typeface="Raleway Bold"/>
                <a:sym typeface="Raleway Bold"/>
              </a:rPr>
              <a:t>Proyecto</a:t>
            </a:r>
          </a:p>
          <a:p>
            <a:pPr algn="l" marL="0" indent="0" lvl="1">
              <a:lnSpc>
                <a:spcPts val="9181"/>
              </a:lnSpc>
              <a:spcBef>
                <a:spcPct val="0"/>
              </a:spcBef>
            </a:pPr>
            <a:r>
              <a:rPr lang="en-US" b="true" sz="9980" spc="-459" strike="noStrike" u="none">
                <a:solidFill>
                  <a:srgbClr val="1A7FA8"/>
                </a:solidFill>
                <a:latin typeface="Raleway Bold"/>
                <a:ea typeface="Raleway Bold"/>
                <a:cs typeface="Raleway Bold"/>
                <a:sym typeface="Raleway Bold"/>
              </a:rPr>
              <a:t>Capstone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4000" y="2056736"/>
            <a:ext cx="572916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7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1A7FA8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Presentación de: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4000" y="6988904"/>
            <a:ext cx="4912440" cy="267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63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1A7FA8"/>
                </a:solidFill>
                <a:latin typeface="Raleway Bold"/>
                <a:ea typeface="Raleway Bold"/>
                <a:cs typeface="Raleway Bold"/>
                <a:sym typeface="Raleway Bold"/>
              </a:rPr>
              <a:t>Duoc UC - Maipú</a:t>
            </a:r>
          </a:p>
          <a:p>
            <a:pPr algn="l" marL="0" indent="0" lvl="1">
              <a:lnSpc>
                <a:spcPts val="2639"/>
              </a:lnSpc>
              <a:spcBef>
                <a:spcPct val="0"/>
              </a:spcBef>
            </a:pPr>
          </a:p>
          <a:p>
            <a:pPr algn="l" marL="0" indent="0" lvl="1">
              <a:lnSpc>
                <a:spcPts val="263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1A7FA8"/>
                </a:solidFill>
                <a:latin typeface="Raleway Bold"/>
                <a:ea typeface="Raleway Bold"/>
                <a:cs typeface="Raleway Bold"/>
                <a:sym typeface="Raleway Bold"/>
              </a:rPr>
              <a:t>Integrantes:</a:t>
            </a:r>
          </a:p>
          <a:p>
            <a:pPr algn="l" marL="0" indent="0" lvl="1">
              <a:lnSpc>
                <a:spcPts val="263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1A7FA8"/>
                </a:solidFill>
                <a:latin typeface="Raleway"/>
                <a:ea typeface="Raleway"/>
                <a:cs typeface="Raleway"/>
                <a:sym typeface="Raleway"/>
              </a:rPr>
              <a:t>Cristina González</a:t>
            </a:r>
          </a:p>
          <a:p>
            <a:pPr algn="l" marL="0" indent="0" lvl="1">
              <a:lnSpc>
                <a:spcPts val="263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1A7FA8"/>
                </a:solidFill>
                <a:latin typeface="Raleway"/>
                <a:ea typeface="Raleway"/>
                <a:cs typeface="Raleway"/>
                <a:sym typeface="Raleway"/>
              </a:rPr>
              <a:t>Nicolás Herrera</a:t>
            </a:r>
          </a:p>
          <a:p>
            <a:pPr algn="l" marL="0" indent="0" lvl="1">
              <a:lnSpc>
                <a:spcPts val="263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1A7FA8"/>
                </a:solidFill>
                <a:latin typeface="Raleway"/>
                <a:ea typeface="Raleway"/>
                <a:cs typeface="Raleway"/>
                <a:sym typeface="Raleway"/>
              </a:rPr>
              <a:t>Willioxer Paz</a:t>
            </a:r>
          </a:p>
          <a:p>
            <a:pPr algn="l" marL="0" indent="0" lvl="1">
              <a:lnSpc>
                <a:spcPts val="2639"/>
              </a:lnSpc>
              <a:spcBef>
                <a:spcPct val="0"/>
              </a:spcBef>
            </a:pPr>
          </a:p>
          <a:p>
            <a:pPr algn="l" marL="0" indent="0" lvl="1">
              <a:lnSpc>
                <a:spcPts val="263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1A7FA8"/>
                </a:solidFill>
                <a:latin typeface="Raleway Bold"/>
                <a:ea typeface="Raleway Bold"/>
                <a:cs typeface="Raleway Bold"/>
                <a:sym typeface="Raleway Bold"/>
              </a:rPr>
              <a:t>Docente:</a:t>
            </a:r>
            <a:r>
              <a:rPr lang="en-US" sz="2199" strike="noStrike" u="none">
                <a:solidFill>
                  <a:srgbClr val="1A7FA8"/>
                </a:solidFill>
                <a:latin typeface="Raleway"/>
                <a:ea typeface="Raleway"/>
                <a:cs typeface="Raleway"/>
                <a:sym typeface="Raleway"/>
              </a:rPr>
              <a:t> Jorge Guzmán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4000" y="5504799"/>
            <a:ext cx="6806159" cy="85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6660"/>
              </a:lnSpc>
              <a:spcBef>
                <a:spcPct val="0"/>
              </a:spcBef>
            </a:pPr>
            <a:r>
              <a:rPr lang="en-US" sz="6000" spc="-276" strike="noStrike" u="none">
                <a:solidFill>
                  <a:srgbClr val="1A7FA8"/>
                </a:solidFill>
                <a:latin typeface="Raleway"/>
                <a:ea typeface="Raleway"/>
                <a:cs typeface="Raleway"/>
                <a:sym typeface="Raleway"/>
              </a:rPr>
              <a:t>RutiMed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53765" y="-1239070"/>
            <a:ext cx="10756123" cy="12765139"/>
            <a:chOff x="0" y="0"/>
            <a:chExt cx="2030771" cy="24100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0771" cy="2410076"/>
            </a:xfrm>
            <a:custGeom>
              <a:avLst/>
              <a:gdLst/>
              <a:ahLst/>
              <a:cxnLst/>
              <a:rect r="r" b="b" t="t" l="l"/>
              <a:pathLst>
                <a:path h="2410076" w="2030771">
                  <a:moveTo>
                    <a:pt x="17274" y="0"/>
                  </a:moveTo>
                  <a:lnTo>
                    <a:pt x="2013497" y="0"/>
                  </a:lnTo>
                  <a:cubicBezTo>
                    <a:pt x="2023037" y="0"/>
                    <a:pt x="2030771" y="7734"/>
                    <a:pt x="2030771" y="17274"/>
                  </a:cubicBezTo>
                  <a:lnTo>
                    <a:pt x="2030771" y="2392802"/>
                  </a:lnTo>
                  <a:cubicBezTo>
                    <a:pt x="2030771" y="2402342"/>
                    <a:pt x="2023037" y="2410076"/>
                    <a:pt x="2013497" y="2410076"/>
                  </a:cubicBezTo>
                  <a:lnTo>
                    <a:pt x="17274" y="2410076"/>
                  </a:lnTo>
                  <a:cubicBezTo>
                    <a:pt x="7734" y="2410076"/>
                    <a:pt x="0" y="2402342"/>
                    <a:pt x="0" y="2392802"/>
                  </a:cubicBezTo>
                  <a:lnTo>
                    <a:pt x="0" y="17274"/>
                  </a:lnTo>
                  <a:cubicBezTo>
                    <a:pt x="0" y="7734"/>
                    <a:pt x="7734" y="0"/>
                    <a:pt x="17274" y="0"/>
                  </a:cubicBezTo>
                  <a:close/>
                </a:path>
              </a:pathLst>
            </a:custGeom>
            <a:solidFill>
              <a:srgbClr val="F0F8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30771" cy="2448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7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10575985" y="-1414723"/>
            <a:ext cx="0" cy="13116447"/>
          </a:xfrm>
          <a:prstGeom prst="line">
            <a:avLst/>
          </a:prstGeom>
          <a:ln cap="flat" w="47625">
            <a:solidFill>
              <a:srgbClr val="1A7FA8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479463" y="1695701"/>
            <a:ext cx="193045" cy="19304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7FA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479463" y="4072616"/>
            <a:ext cx="193045" cy="19304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7FA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479463" y="6864926"/>
            <a:ext cx="193045" cy="19304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7FA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505279" y="3930793"/>
            <a:ext cx="9148703" cy="5327507"/>
          </a:xfrm>
          <a:custGeom>
            <a:avLst/>
            <a:gdLst/>
            <a:ahLst/>
            <a:cxnLst/>
            <a:rect r="r" b="b" t="t" l="l"/>
            <a:pathLst>
              <a:path h="5327507" w="9148703">
                <a:moveTo>
                  <a:pt x="0" y="0"/>
                </a:moveTo>
                <a:lnTo>
                  <a:pt x="9148703" y="0"/>
                </a:lnTo>
                <a:lnTo>
                  <a:pt x="9148703" y="5327507"/>
                </a:lnTo>
                <a:lnTo>
                  <a:pt x="0" y="53275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53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07062" y="1200150"/>
            <a:ext cx="599027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6439"/>
              </a:lnSpc>
              <a:spcBef>
                <a:spcPct val="0"/>
              </a:spcBef>
            </a:pPr>
            <a:r>
              <a:rPr lang="en-US" b="true" sz="6999" spc="-321" strike="noStrike" u="none">
                <a:solidFill>
                  <a:srgbClr val="1A7FA8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Problemática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05279" y="2483619"/>
            <a:ext cx="9148703" cy="1126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386"/>
              </a:lnSpc>
            </a:pPr>
            <a:r>
              <a:rPr lang="en-US" b="true" sz="4300" spc="-197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El cuidado domiciliario es una necesidad cada vez más relevante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829670" y="1510347"/>
            <a:ext cx="6833825" cy="537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3"/>
              </a:lnSpc>
              <a:spcBef>
                <a:spcPct val="0"/>
              </a:spcBef>
            </a:pPr>
            <a:r>
              <a:rPr lang="en-US" b="true" sz="3230" spc="87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01. INFORMACIÓN DISPERSA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95881" y="2030095"/>
            <a:ext cx="6211490" cy="1455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7"/>
              </a:lnSpc>
              <a:spcBef>
                <a:spcPct val="0"/>
              </a:spcBef>
            </a:pPr>
            <a:r>
              <a:rPr lang="en-US" b="true" sz="2279" spc="13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Medicamentos, citas, turnos y actividades pueden quedar distribuidos entre mensajes, notas o conversaciones.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829670" y="3911505"/>
            <a:ext cx="7847619" cy="537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3"/>
              </a:lnSpc>
              <a:spcBef>
                <a:spcPct val="0"/>
              </a:spcBef>
            </a:pPr>
            <a:r>
              <a:rPr lang="en-US" b="true" sz="3230" spc="87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02. DIFICULTAD DE COORDINACIÓN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615429" y="4655084"/>
            <a:ext cx="6191942" cy="1455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7"/>
              </a:lnSpc>
              <a:spcBef>
                <a:spcPct val="0"/>
              </a:spcBef>
            </a:pPr>
            <a:r>
              <a:rPr lang="en-US" b="true" sz="2279" spc="13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Cuando participan distintos familiares y cuidadores, mantener el seguimiento de las actividades se vuelve más complejo.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829670" y="6654470"/>
            <a:ext cx="7343347" cy="537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3"/>
              </a:lnSpc>
              <a:spcBef>
                <a:spcPct val="0"/>
              </a:spcBef>
            </a:pPr>
            <a:r>
              <a:rPr lang="en-US" b="true" sz="3230" spc="87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03. NECESIDAD DE CONTINUIDAD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615429" y="7401776"/>
            <a:ext cx="6388872" cy="1102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7"/>
              </a:lnSpc>
              <a:spcBef>
                <a:spcPct val="0"/>
              </a:spcBef>
            </a:pPr>
            <a:r>
              <a:rPr lang="en-US" b="true" sz="2279" spc="13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Contar con información organizada y compartida facilita el seguimiento del cuidado domiciliario.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4237575" y="246357"/>
            <a:ext cx="3438270" cy="782343"/>
          </a:xfrm>
          <a:custGeom>
            <a:avLst/>
            <a:gdLst/>
            <a:ahLst/>
            <a:cxnLst/>
            <a:rect r="r" b="b" t="t" l="l"/>
            <a:pathLst>
              <a:path h="782343" w="3438270">
                <a:moveTo>
                  <a:pt x="0" y="0"/>
                </a:moveTo>
                <a:lnTo>
                  <a:pt x="3438270" y="0"/>
                </a:lnTo>
                <a:lnTo>
                  <a:pt x="3438270" y="782343"/>
                </a:lnTo>
                <a:lnTo>
                  <a:pt x="0" y="7823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6789" r="0" b="-172693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4612929" cy="4693712"/>
          </a:xfrm>
          <a:custGeom>
            <a:avLst/>
            <a:gdLst/>
            <a:ahLst/>
            <a:cxnLst/>
            <a:rect r="r" b="b" t="t" l="l"/>
            <a:pathLst>
              <a:path h="4693712" w="4612929">
                <a:moveTo>
                  <a:pt x="0" y="0"/>
                </a:moveTo>
                <a:lnTo>
                  <a:pt x="4612929" y="0"/>
                </a:lnTo>
                <a:lnTo>
                  <a:pt x="4612929" y="4693712"/>
                </a:lnTo>
                <a:lnTo>
                  <a:pt x="0" y="46937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75" t="-4341" r="-249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59722" y="95250"/>
            <a:ext cx="3453722" cy="97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7279"/>
              </a:lnSpc>
              <a:spcBef>
                <a:spcPct val="0"/>
              </a:spcBef>
            </a:pPr>
            <a:r>
              <a:rPr lang="en-US" b="true" sz="6999" spc="-321" strike="noStrike" u="none">
                <a:solidFill>
                  <a:srgbClr val="1A7FA8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Usuario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641330" y="1077808"/>
            <a:ext cx="4502670" cy="57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27"/>
              </a:lnSpc>
            </a:pPr>
            <a:r>
              <a:rPr lang="en-US" b="true" sz="3199" spc="-25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Perfil: Pablo Valenzuela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286250" y="1704975"/>
            <a:ext cx="5050796" cy="3012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2967"/>
              </a:lnSpc>
              <a:buFont typeface="Arial"/>
              <a:buChar char="•"/>
            </a:pPr>
            <a:r>
              <a:rPr lang="en-US" b="true" sz="2300" spc="-18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42 años.</a:t>
            </a:r>
          </a:p>
          <a:p>
            <a:pPr algn="l" marL="496571" indent="-248285" lvl="1">
              <a:lnSpc>
                <a:spcPts val="2967"/>
              </a:lnSpc>
              <a:buFont typeface="Arial"/>
              <a:buChar char="•"/>
            </a:pPr>
            <a:r>
              <a:rPr lang="en-US" b="true" sz="2300" spc="-18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Trabaja jornada completa.</a:t>
            </a:r>
          </a:p>
          <a:p>
            <a:pPr algn="l" marL="496571" indent="-248285" lvl="1">
              <a:lnSpc>
                <a:spcPts val="2967"/>
              </a:lnSpc>
              <a:buFont typeface="Arial"/>
              <a:buChar char="•"/>
            </a:pPr>
            <a:r>
              <a:rPr lang="en-US" b="true" sz="2300" spc="-18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Es familiar responsable de coordinar el cuidado de su padre.</a:t>
            </a:r>
          </a:p>
          <a:p>
            <a:pPr algn="l" marL="496571" indent="-248285" lvl="1">
              <a:lnSpc>
                <a:spcPts val="2967"/>
              </a:lnSpc>
              <a:buFont typeface="Arial"/>
              <a:buChar char="•"/>
            </a:pPr>
            <a:r>
              <a:rPr lang="en-US" b="true" sz="2300" spc="-18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Comparte la organización del cuidado con otros familiares y cuidadores.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96487" y="1695450"/>
            <a:ext cx="7861662" cy="336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b="true" sz="2100" spc="-1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Utiliza WhatsApp como principal canal de comunicación con familiares y cuidadores.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b="true" sz="2100" spc="-1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Revisa mensajes para mantenerse informado sobre lo ocurrido durante el cuidado.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b="true" sz="2100" spc="-1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Coordina citas médicas, medicamentos y actividades mediante mensajería.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b="true" sz="2100" spc="-1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Consulta con frecuencia si las tareas fueron realizadas.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b="true" sz="2100" spc="-1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Combina la organización del cuidado con sus responsabilidades laborales.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84771" y="1071372"/>
            <a:ext cx="3617883" cy="57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27"/>
              </a:lnSpc>
            </a:pPr>
            <a:r>
              <a:rPr lang="en-US" b="true" sz="3199" spc="-25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Comportamiento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9665659" y="1309815"/>
            <a:ext cx="0" cy="8495427"/>
          </a:xfrm>
          <a:prstGeom prst="line">
            <a:avLst/>
          </a:prstGeom>
          <a:ln cap="flat" w="476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>
            <a:off x="456456" y="5569648"/>
            <a:ext cx="17401693" cy="0"/>
          </a:xfrm>
          <a:prstGeom prst="line">
            <a:avLst/>
          </a:prstGeom>
          <a:ln cap="flat" w="47625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218220" y="5876925"/>
            <a:ext cx="2766453" cy="57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27"/>
              </a:lnSpc>
            </a:pPr>
            <a:r>
              <a:rPr lang="en-US" b="true" sz="3199" spc="-25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Necesidades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0721" y="6764274"/>
            <a:ext cx="8715375" cy="2851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837"/>
              </a:lnSpc>
              <a:buFont typeface="Arial"/>
              <a:buChar char="•"/>
            </a:pPr>
            <a:r>
              <a:rPr lang="en-US" b="true" sz="2199" spc="-17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Tener la información del cuidado centralizada en un solo lugar.</a:t>
            </a:r>
          </a:p>
          <a:p>
            <a:pPr algn="l" marL="474979" indent="-237490" lvl="1">
              <a:lnSpc>
                <a:spcPts val="2837"/>
              </a:lnSpc>
              <a:buFont typeface="Arial"/>
              <a:buChar char="•"/>
            </a:pPr>
            <a:r>
              <a:rPr lang="en-US" b="true" sz="2199" spc="-17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Saber qué actividades se realizaron y cuáles están pendientes.</a:t>
            </a:r>
          </a:p>
          <a:p>
            <a:pPr algn="l" marL="474979" indent="-237490" lvl="1">
              <a:lnSpc>
                <a:spcPts val="2837"/>
              </a:lnSpc>
              <a:buFont typeface="Arial"/>
              <a:buChar char="•"/>
            </a:pPr>
            <a:r>
              <a:rPr lang="en-US" b="true" sz="2199" spc="-17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Identificar quién está a cargo del cuidado en cada momento.</a:t>
            </a:r>
          </a:p>
          <a:p>
            <a:pPr algn="l" marL="474979" indent="-237490" lvl="1">
              <a:lnSpc>
                <a:spcPts val="2837"/>
              </a:lnSpc>
              <a:buFont typeface="Arial"/>
              <a:buChar char="•"/>
            </a:pPr>
            <a:r>
              <a:rPr lang="en-US" b="true" sz="2199" spc="-17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Consultar medicamentos, próximas citas y registros de actividades.</a:t>
            </a:r>
          </a:p>
          <a:p>
            <a:pPr algn="l" marL="474979" indent="-237490" lvl="1">
              <a:lnSpc>
                <a:spcPts val="2837"/>
              </a:lnSpc>
              <a:buFont typeface="Arial"/>
              <a:buChar char="•"/>
            </a:pPr>
            <a:r>
              <a:rPr lang="en-US" b="true" sz="2199" spc="-17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Contar con información ordenada y fácil de revisar.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13444" y="5876925"/>
            <a:ext cx="5161099" cy="57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27"/>
              </a:lnSpc>
            </a:pPr>
            <a:r>
              <a:rPr lang="en-US" b="true" sz="3199" spc="-25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Principales Dificultades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75221" y="6516624"/>
            <a:ext cx="7602056" cy="2851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837"/>
              </a:lnSpc>
              <a:buFont typeface="Arial"/>
              <a:buChar char="•"/>
            </a:pPr>
            <a:r>
              <a:rPr lang="en-US" b="true" sz="2199" spc="-17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La información importante puede perderse entre mensajes y conversaciones.</a:t>
            </a:r>
          </a:p>
          <a:p>
            <a:pPr algn="l" marL="474979" indent="-237490" lvl="1">
              <a:lnSpc>
                <a:spcPts val="2837"/>
              </a:lnSpc>
              <a:buFont typeface="Arial"/>
              <a:buChar char="•"/>
            </a:pPr>
            <a:r>
              <a:rPr lang="en-US" b="true" sz="2199" spc="-17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Le cuesta verificar rápidamente qué se realizó y qué quedó pendiente.</a:t>
            </a:r>
          </a:p>
          <a:p>
            <a:pPr algn="l" marL="474979" indent="-237490" lvl="1">
              <a:lnSpc>
                <a:spcPts val="2837"/>
              </a:lnSpc>
              <a:buFont typeface="Arial"/>
              <a:buChar char="•"/>
            </a:pPr>
            <a:r>
              <a:rPr lang="en-US" b="true" sz="2199" spc="-17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Debe preguntar constantemente para conocer el estado del cuidado.</a:t>
            </a:r>
          </a:p>
          <a:p>
            <a:pPr algn="l" marL="474979" indent="-237490" lvl="1">
              <a:lnSpc>
                <a:spcPts val="2837"/>
              </a:lnSpc>
              <a:buFont typeface="Arial"/>
              <a:buChar char="•"/>
            </a:pPr>
            <a:r>
              <a:rPr lang="en-US" b="true" sz="2199" spc="-17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No siempre cuenta con un registro claro de lo ocurrido durante el día.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4237575" y="246357"/>
            <a:ext cx="3438270" cy="782343"/>
          </a:xfrm>
          <a:custGeom>
            <a:avLst/>
            <a:gdLst/>
            <a:ahLst/>
            <a:cxnLst/>
            <a:rect r="r" b="b" t="t" l="l"/>
            <a:pathLst>
              <a:path h="782343" w="3438270">
                <a:moveTo>
                  <a:pt x="0" y="0"/>
                </a:moveTo>
                <a:lnTo>
                  <a:pt x="3438270" y="0"/>
                </a:lnTo>
                <a:lnTo>
                  <a:pt x="3438270" y="782343"/>
                </a:lnTo>
                <a:lnTo>
                  <a:pt x="0" y="7823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6789" r="0" b="-172693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429738"/>
            <a:ext cx="7539725" cy="3782824"/>
          </a:xfrm>
          <a:custGeom>
            <a:avLst/>
            <a:gdLst/>
            <a:ahLst/>
            <a:cxnLst/>
            <a:rect r="r" b="b" t="t" l="l"/>
            <a:pathLst>
              <a:path h="3782824" w="7539725">
                <a:moveTo>
                  <a:pt x="0" y="0"/>
                </a:moveTo>
                <a:lnTo>
                  <a:pt x="7539725" y="0"/>
                </a:lnTo>
                <a:lnTo>
                  <a:pt x="7539725" y="3782823"/>
                </a:lnTo>
                <a:lnTo>
                  <a:pt x="0" y="37828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56" r="0" b="-105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73567" y="2429738"/>
            <a:ext cx="7093690" cy="3782824"/>
          </a:xfrm>
          <a:custGeom>
            <a:avLst/>
            <a:gdLst/>
            <a:ahLst/>
            <a:cxnLst/>
            <a:rect r="r" b="b" t="t" l="l"/>
            <a:pathLst>
              <a:path h="3782824" w="7093690">
                <a:moveTo>
                  <a:pt x="0" y="0"/>
                </a:moveTo>
                <a:lnTo>
                  <a:pt x="7093690" y="0"/>
                </a:lnTo>
                <a:lnTo>
                  <a:pt x="7093690" y="3782823"/>
                </a:lnTo>
                <a:lnTo>
                  <a:pt x="0" y="37828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062" r="-25580" b="-606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6384011"/>
            <a:ext cx="7539725" cy="3712847"/>
          </a:xfrm>
          <a:custGeom>
            <a:avLst/>
            <a:gdLst/>
            <a:ahLst/>
            <a:cxnLst/>
            <a:rect r="r" b="b" t="t" l="l"/>
            <a:pathLst>
              <a:path h="3712847" w="7539725">
                <a:moveTo>
                  <a:pt x="0" y="0"/>
                </a:moveTo>
                <a:lnTo>
                  <a:pt x="7539725" y="0"/>
                </a:lnTo>
                <a:lnTo>
                  <a:pt x="7539725" y="3712848"/>
                </a:lnTo>
                <a:lnTo>
                  <a:pt x="0" y="37128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391" r="0" b="-339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248072" y="460507"/>
            <a:ext cx="8650991" cy="97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7279"/>
              </a:lnSpc>
              <a:spcBef>
                <a:spcPct val="0"/>
              </a:spcBef>
            </a:pPr>
            <a:r>
              <a:rPr lang="en-US" b="true" sz="6999" spc="-321" strike="noStrike" u="none">
                <a:solidFill>
                  <a:srgbClr val="1A7FA8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Encuesta y Validación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644312"/>
            <a:ext cx="9311963" cy="477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468"/>
              </a:lnSpc>
            </a:pPr>
            <a:r>
              <a:rPr lang="en-US" b="true" sz="3400" spc="-156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</a:t>
            </a:r>
            <a:r>
              <a:rPr lang="en-US" b="true" sz="3400" spc="-156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esultados de encuesta aplicada a 47 personas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237575" y="246357"/>
            <a:ext cx="3438270" cy="782343"/>
          </a:xfrm>
          <a:custGeom>
            <a:avLst/>
            <a:gdLst/>
            <a:ahLst/>
            <a:cxnLst/>
            <a:rect r="r" b="b" t="t" l="l"/>
            <a:pathLst>
              <a:path h="782343" w="3438270">
                <a:moveTo>
                  <a:pt x="0" y="0"/>
                </a:moveTo>
                <a:lnTo>
                  <a:pt x="3438270" y="0"/>
                </a:lnTo>
                <a:lnTo>
                  <a:pt x="3438270" y="782343"/>
                </a:lnTo>
                <a:lnTo>
                  <a:pt x="0" y="7823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6789" r="0" b="-172693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573567" y="6652935"/>
            <a:ext cx="7382732" cy="308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 spc="-19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Los resu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do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 r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es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pal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an 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la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ble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át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ica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de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ti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ic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da y 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la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p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opu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es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ta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de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. 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59,6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%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nside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ra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difí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ci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 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 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y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difíci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 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coordina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as actividades as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oci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as 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al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cui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do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dom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ci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rio,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mien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tras 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q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ue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un 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93,6 % c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on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sid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úti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uy út</a:t>
            </a:r>
            <a:r>
              <a:rPr lang="en-US" b="true" sz="2499" strike="noStrike" spc="-19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il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on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 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 u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 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plataf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rma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q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en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tr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ali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 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est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inf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or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ción</a:t>
            </a:r>
            <a:r>
              <a:rPr lang="en-US" b="true" sz="2499" spc="-19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6659" y="1370952"/>
            <a:ext cx="727807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6439"/>
              </a:lnSpc>
              <a:spcBef>
                <a:spcPct val="0"/>
              </a:spcBef>
            </a:pPr>
            <a:r>
              <a:rPr lang="en-US" b="true" sz="6999" spc="-321" strike="noStrike" u="none">
                <a:solidFill>
                  <a:srgbClr val="1A7FA8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Solución y objetivo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965884"/>
            <a:ext cx="7166036" cy="410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0"/>
              </a:lnSpc>
              <a:spcBef>
                <a:spcPct val="0"/>
              </a:spcBef>
            </a:pPr>
            <a:r>
              <a:rPr lang="en-US" b="true" sz="3139" spc="-25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RutiMed es una plataforma web responsive orientada a apoyar la organización y continuidad del cuidado domiciliario de personas que requieren asistencia, centralizando información relevante y facilitando la coordinación entre familiares y cuidadores.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958957" y="1135419"/>
            <a:ext cx="7903643" cy="2515173"/>
            <a:chOff x="0" y="0"/>
            <a:chExt cx="6209125" cy="19759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09125" cy="1975927"/>
            </a:xfrm>
            <a:custGeom>
              <a:avLst/>
              <a:gdLst/>
              <a:ahLst/>
              <a:cxnLst/>
              <a:rect r="r" b="b" t="t" l="l"/>
              <a:pathLst>
                <a:path h="1975927" w="6209125">
                  <a:moveTo>
                    <a:pt x="37222" y="0"/>
                  </a:moveTo>
                  <a:lnTo>
                    <a:pt x="6171903" y="0"/>
                  </a:lnTo>
                  <a:cubicBezTo>
                    <a:pt x="6192460" y="0"/>
                    <a:pt x="6209125" y="16665"/>
                    <a:pt x="6209125" y="37222"/>
                  </a:cubicBezTo>
                  <a:lnTo>
                    <a:pt x="6209125" y="1938705"/>
                  </a:lnTo>
                  <a:cubicBezTo>
                    <a:pt x="6209125" y="1948577"/>
                    <a:pt x="6205204" y="1958045"/>
                    <a:pt x="6198223" y="1965025"/>
                  </a:cubicBezTo>
                  <a:cubicBezTo>
                    <a:pt x="6191243" y="1972006"/>
                    <a:pt x="6181775" y="1975927"/>
                    <a:pt x="6171903" y="1975927"/>
                  </a:cubicBezTo>
                  <a:lnTo>
                    <a:pt x="37222" y="1975927"/>
                  </a:lnTo>
                  <a:cubicBezTo>
                    <a:pt x="16665" y="1975927"/>
                    <a:pt x="0" y="1959262"/>
                    <a:pt x="0" y="1938705"/>
                  </a:cubicBezTo>
                  <a:lnTo>
                    <a:pt x="0" y="37222"/>
                  </a:lnTo>
                  <a:cubicBezTo>
                    <a:pt x="0" y="27350"/>
                    <a:pt x="3922" y="17883"/>
                    <a:pt x="10902" y="10902"/>
                  </a:cubicBezTo>
                  <a:cubicBezTo>
                    <a:pt x="17883" y="3922"/>
                    <a:pt x="27350" y="0"/>
                    <a:pt x="37222" y="0"/>
                  </a:cubicBezTo>
                  <a:close/>
                </a:path>
              </a:pathLst>
            </a:custGeom>
            <a:solidFill>
              <a:srgbClr val="5BB8D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6209125" cy="2004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0" y="1335860"/>
            <a:ext cx="7513765" cy="2114291"/>
            <a:chOff x="0" y="0"/>
            <a:chExt cx="5902836" cy="166099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902836" cy="1660993"/>
            </a:xfrm>
            <a:custGeom>
              <a:avLst/>
              <a:gdLst/>
              <a:ahLst/>
              <a:cxnLst/>
              <a:rect r="r" b="b" t="t" l="l"/>
              <a:pathLst>
                <a:path h="1660993" w="5902836">
                  <a:moveTo>
                    <a:pt x="22668" y="0"/>
                  </a:moveTo>
                  <a:lnTo>
                    <a:pt x="5880168" y="0"/>
                  </a:lnTo>
                  <a:cubicBezTo>
                    <a:pt x="5886180" y="0"/>
                    <a:pt x="5891946" y="2388"/>
                    <a:pt x="5896197" y="6639"/>
                  </a:cubicBezTo>
                  <a:cubicBezTo>
                    <a:pt x="5900448" y="10890"/>
                    <a:pt x="5902836" y="16656"/>
                    <a:pt x="5902836" y="22668"/>
                  </a:cubicBezTo>
                  <a:lnTo>
                    <a:pt x="5902836" y="1638325"/>
                  </a:lnTo>
                  <a:cubicBezTo>
                    <a:pt x="5902836" y="1650844"/>
                    <a:pt x="5892687" y="1660993"/>
                    <a:pt x="5880168" y="1660993"/>
                  </a:cubicBezTo>
                  <a:lnTo>
                    <a:pt x="22668" y="1660993"/>
                  </a:lnTo>
                  <a:cubicBezTo>
                    <a:pt x="10149" y="1660993"/>
                    <a:pt x="0" y="1650844"/>
                    <a:pt x="0" y="1638325"/>
                  </a:cubicBezTo>
                  <a:lnTo>
                    <a:pt x="0" y="22668"/>
                  </a:lnTo>
                  <a:cubicBezTo>
                    <a:pt x="0" y="10149"/>
                    <a:pt x="10149" y="0"/>
                    <a:pt x="22668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5902836" cy="1689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958957" y="3887073"/>
            <a:ext cx="7903643" cy="2586126"/>
            <a:chOff x="0" y="0"/>
            <a:chExt cx="6209125" cy="20316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09125" cy="2031668"/>
            </a:xfrm>
            <a:custGeom>
              <a:avLst/>
              <a:gdLst/>
              <a:ahLst/>
              <a:cxnLst/>
              <a:rect r="r" b="b" t="t" l="l"/>
              <a:pathLst>
                <a:path h="2031668" w="6209125">
                  <a:moveTo>
                    <a:pt x="37222" y="0"/>
                  </a:moveTo>
                  <a:lnTo>
                    <a:pt x="6171903" y="0"/>
                  </a:lnTo>
                  <a:cubicBezTo>
                    <a:pt x="6192460" y="0"/>
                    <a:pt x="6209125" y="16665"/>
                    <a:pt x="6209125" y="37222"/>
                  </a:cubicBezTo>
                  <a:lnTo>
                    <a:pt x="6209125" y="1994446"/>
                  </a:lnTo>
                  <a:cubicBezTo>
                    <a:pt x="6209125" y="2015003"/>
                    <a:pt x="6192460" y="2031668"/>
                    <a:pt x="6171903" y="2031668"/>
                  </a:cubicBezTo>
                  <a:lnTo>
                    <a:pt x="37222" y="2031668"/>
                  </a:lnTo>
                  <a:cubicBezTo>
                    <a:pt x="27350" y="2031668"/>
                    <a:pt x="17883" y="2027746"/>
                    <a:pt x="10902" y="2020766"/>
                  </a:cubicBezTo>
                  <a:cubicBezTo>
                    <a:pt x="3922" y="2013785"/>
                    <a:pt x="0" y="2004318"/>
                    <a:pt x="0" y="1994446"/>
                  </a:cubicBezTo>
                  <a:lnTo>
                    <a:pt x="0" y="37222"/>
                  </a:lnTo>
                  <a:cubicBezTo>
                    <a:pt x="0" y="27350"/>
                    <a:pt x="3922" y="17883"/>
                    <a:pt x="10902" y="10902"/>
                  </a:cubicBezTo>
                  <a:cubicBezTo>
                    <a:pt x="17883" y="3922"/>
                    <a:pt x="27350" y="0"/>
                    <a:pt x="37222" y="0"/>
                  </a:cubicBezTo>
                  <a:close/>
                </a:path>
              </a:pathLst>
            </a:custGeom>
            <a:solidFill>
              <a:srgbClr val="5BB8D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6209125" cy="20602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270220" y="4087514"/>
            <a:ext cx="7387545" cy="2256196"/>
            <a:chOff x="0" y="0"/>
            <a:chExt cx="5803677" cy="177247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803677" cy="1772474"/>
            </a:xfrm>
            <a:custGeom>
              <a:avLst/>
              <a:gdLst/>
              <a:ahLst/>
              <a:cxnLst/>
              <a:rect r="r" b="b" t="t" l="l"/>
              <a:pathLst>
                <a:path h="1772474" w="5803677">
                  <a:moveTo>
                    <a:pt x="23055" y="0"/>
                  </a:moveTo>
                  <a:lnTo>
                    <a:pt x="5780622" y="0"/>
                  </a:lnTo>
                  <a:cubicBezTo>
                    <a:pt x="5793355" y="0"/>
                    <a:pt x="5803677" y="10322"/>
                    <a:pt x="5803677" y="23055"/>
                  </a:cubicBezTo>
                  <a:lnTo>
                    <a:pt x="5803677" y="1749419"/>
                  </a:lnTo>
                  <a:cubicBezTo>
                    <a:pt x="5803677" y="1762152"/>
                    <a:pt x="5793355" y="1772474"/>
                    <a:pt x="5780622" y="1772474"/>
                  </a:cubicBezTo>
                  <a:lnTo>
                    <a:pt x="23055" y="1772474"/>
                  </a:lnTo>
                  <a:cubicBezTo>
                    <a:pt x="10322" y="1772474"/>
                    <a:pt x="0" y="1762152"/>
                    <a:pt x="0" y="1749419"/>
                  </a:cubicBezTo>
                  <a:lnTo>
                    <a:pt x="0" y="23055"/>
                  </a:lnTo>
                  <a:cubicBezTo>
                    <a:pt x="0" y="10322"/>
                    <a:pt x="10322" y="0"/>
                    <a:pt x="23055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5803677" cy="1801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949061" y="6770400"/>
            <a:ext cx="7903643" cy="2657078"/>
            <a:chOff x="0" y="0"/>
            <a:chExt cx="6209125" cy="20874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209125" cy="2087408"/>
            </a:xfrm>
            <a:custGeom>
              <a:avLst/>
              <a:gdLst/>
              <a:ahLst/>
              <a:cxnLst/>
              <a:rect r="r" b="b" t="t" l="l"/>
              <a:pathLst>
                <a:path h="2087408" w="6209125">
                  <a:moveTo>
                    <a:pt x="37222" y="0"/>
                  </a:moveTo>
                  <a:lnTo>
                    <a:pt x="6171903" y="0"/>
                  </a:lnTo>
                  <a:cubicBezTo>
                    <a:pt x="6192460" y="0"/>
                    <a:pt x="6209125" y="16665"/>
                    <a:pt x="6209125" y="37222"/>
                  </a:cubicBezTo>
                  <a:lnTo>
                    <a:pt x="6209125" y="2050186"/>
                  </a:lnTo>
                  <a:cubicBezTo>
                    <a:pt x="6209125" y="2070743"/>
                    <a:pt x="6192460" y="2087408"/>
                    <a:pt x="6171903" y="2087408"/>
                  </a:cubicBezTo>
                  <a:lnTo>
                    <a:pt x="37222" y="2087408"/>
                  </a:lnTo>
                  <a:cubicBezTo>
                    <a:pt x="27350" y="2087408"/>
                    <a:pt x="17883" y="2083487"/>
                    <a:pt x="10902" y="2076506"/>
                  </a:cubicBezTo>
                  <a:cubicBezTo>
                    <a:pt x="3922" y="2069526"/>
                    <a:pt x="0" y="2060058"/>
                    <a:pt x="0" y="2050186"/>
                  </a:cubicBezTo>
                  <a:lnTo>
                    <a:pt x="0" y="37222"/>
                  </a:lnTo>
                  <a:cubicBezTo>
                    <a:pt x="0" y="27350"/>
                    <a:pt x="3922" y="17883"/>
                    <a:pt x="10902" y="10902"/>
                  </a:cubicBezTo>
                  <a:cubicBezTo>
                    <a:pt x="17883" y="3922"/>
                    <a:pt x="27350" y="0"/>
                    <a:pt x="37222" y="0"/>
                  </a:cubicBezTo>
                  <a:close/>
                </a:path>
              </a:pathLst>
            </a:custGeom>
            <a:solidFill>
              <a:srgbClr val="5BB8D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6209125" cy="21159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270220" y="6970842"/>
            <a:ext cx="7387545" cy="2287458"/>
            <a:chOff x="0" y="0"/>
            <a:chExt cx="5803677" cy="17970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803677" cy="1797034"/>
            </a:xfrm>
            <a:custGeom>
              <a:avLst/>
              <a:gdLst/>
              <a:ahLst/>
              <a:cxnLst/>
              <a:rect r="r" b="b" t="t" l="l"/>
              <a:pathLst>
                <a:path h="1797034" w="5803677">
                  <a:moveTo>
                    <a:pt x="23055" y="0"/>
                  </a:moveTo>
                  <a:lnTo>
                    <a:pt x="5780622" y="0"/>
                  </a:lnTo>
                  <a:cubicBezTo>
                    <a:pt x="5793355" y="0"/>
                    <a:pt x="5803677" y="10322"/>
                    <a:pt x="5803677" y="23055"/>
                  </a:cubicBezTo>
                  <a:lnTo>
                    <a:pt x="5803677" y="1773979"/>
                  </a:lnTo>
                  <a:cubicBezTo>
                    <a:pt x="5803677" y="1786712"/>
                    <a:pt x="5793355" y="1797034"/>
                    <a:pt x="5780622" y="1797034"/>
                  </a:cubicBezTo>
                  <a:lnTo>
                    <a:pt x="23055" y="1797034"/>
                  </a:lnTo>
                  <a:cubicBezTo>
                    <a:pt x="10322" y="1797034"/>
                    <a:pt x="0" y="1786712"/>
                    <a:pt x="0" y="1773979"/>
                  </a:cubicBezTo>
                  <a:lnTo>
                    <a:pt x="0" y="23055"/>
                  </a:lnTo>
                  <a:cubicBezTo>
                    <a:pt x="0" y="10322"/>
                    <a:pt x="10322" y="0"/>
                    <a:pt x="23055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5803677" cy="1825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144000" y="1804975"/>
            <a:ext cx="1231465" cy="95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44"/>
              </a:lnSpc>
              <a:spcBef>
                <a:spcPct val="0"/>
              </a:spcBef>
            </a:pPr>
            <a:r>
              <a:rPr lang="en-US" sz="6787" spc="-278">
                <a:solidFill>
                  <a:srgbClr val="FBF6F1"/>
                </a:solidFill>
                <a:latin typeface="Codec Pro"/>
                <a:ea typeface="Codec Pro"/>
                <a:cs typeface="Codec Pro"/>
                <a:sym typeface="Codec Pro"/>
              </a:rPr>
              <a:t>01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719644" y="2000532"/>
            <a:ext cx="5740533" cy="1238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8"/>
              </a:lnSpc>
            </a:pPr>
            <a:r>
              <a:rPr lang="en-US" b="true" sz="2448" u="none">
                <a:solidFill>
                  <a:srgbClr val="FBF6F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Gestión de medicamentos, citas médicas, turnos y actividades de cuidado desde un mismo entorno.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270220" y="4707371"/>
            <a:ext cx="1231465" cy="95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44"/>
              </a:lnSpc>
              <a:spcBef>
                <a:spcPct val="0"/>
              </a:spcBef>
            </a:pPr>
            <a:r>
              <a:rPr lang="en-US" sz="6787" spc="-278">
                <a:solidFill>
                  <a:srgbClr val="FBF6F1"/>
                </a:solidFill>
                <a:latin typeface="Codec Pro"/>
                <a:ea typeface="Codec Pro"/>
                <a:cs typeface="Codec Pro"/>
                <a:sym typeface="Codec Pro"/>
              </a:rPr>
              <a:t>02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974351" y="4564496"/>
            <a:ext cx="5341426" cy="1638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8"/>
              </a:lnSpc>
            </a:pPr>
            <a:r>
              <a:rPr lang="en-US" b="true" sz="2448">
                <a:solidFill>
                  <a:srgbClr val="FBF6F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</a:t>
            </a:r>
            <a:r>
              <a:rPr lang="en-US" b="true" sz="2448" u="none">
                <a:solidFill>
                  <a:srgbClr val="FBF6F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itácoras y registros que permiten conocer las actividades realizadas, pendientes y situaciones relevantes del cuidado.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86904" y="7456998"/>
            <a:ext cx="1231465" cy="95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44"/>
              </a:lnSpc>
              <a:spcBef>
                <a:spcPct val="0"/>
              </a:spcBef>
            </a:pPr>
            <a:r>
              <a:rPr lang="en-US" sz="6787" spc="-278">
                <a:solidFill>
                  <a:srgbClr val="FBF6F1"/>
                </a:solidFill>
                <a:latin typeface="Codec Pro"/>
                <a:ea typeface="Codec Pro"/>
                <a:cs typeface="Codec Pro"/>
                <a:sym typeface="Codec Pro"/>
              </a:rPr>
              <a:t>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919198" y="7473914"/>
            <a:ext cx="5341426" cy="1488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00"/>
              </a:lnSpc>
            </a:pPr>
            <a:r>
              <a:rPr lang="en-US" b="true" sz="2248" u="none">
                <a:solidFill>
                  <a:srgbClr val="FBF6F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Roles diferenciados para Tutor, Cuidador y Paciente, permitiendo compartir información de acuerdo con los permisos definidos.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974351" y="4122547"/>
            <a:ext cx="4505240" cy="438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8"/>
              </a:lnSpc>
            </a:pPr>
            <a:r>
              <a:rPr lang="en-US" b="true" sz="2448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Registro y Seguimiento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719644" y="1476067"/>
            <a:ext cx="5214764" cy="438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8"/>
              </a:lnSpc>
            </a:pPr>
            <a:r>
              <a:rPr lang="en-US" b="true" sz="2448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</a:t>
            </a:r>
            <a:r>
              <a:rPr lang="en-US" b="true" sz="2448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entralización de Información: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974351" y="7044698"/>
            <a:ext cx="4505240" cy="438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8"/>
              </a:lnSpc>
            </a:pPr>
            <a:r>
              <a:rPr lang="en-US" b="true" sz="2448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Coord</a:t>
            </a:r>
            <a:r>
              <a:rPr lang="en-US" b="true" sz="2448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inación entre usuarios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2633647"/>
            <a:ext cx="7730674" cy="915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468"/>
              </a:lnSpc>
            </a:pPr>
            <a:r>
              <a:rPr lang="en-US" b="true" sz="3400" spc="-156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Prop</a:t>
            </a:r>
            <a:r>
              <a:rPr lang="en-US" b="true" sz="3400" spc="-156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uesta para apoyar la continuidad del cuidado domiciliario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4237575" y="246357"/>
            <a:ext cx="3438270" cy="782343"/>
          </a:xfrm>
          <a:custGeom>
            <a:avLst/>
            <a:gdLst/>
            <a:ahLst/>
            <a:cxnLst/>
            <a:rect r="r" b="b" t="t" l="l"/>
            <a:pathLst>
              <a:path h="782343" w="3438270">
                <a:moveTo>
                  <a:pt x="0" y="0"/>
                </a:moveTo>
                <a:lnTo>
                  <a:pt x="3438270" y="0"/>
                </a:lnTo>
                <a:lnTo>
                  <a:pt x="3438270" y="782343"/>
                </a:lnTo>
                <a:lnTo>
                  <a:pt x="0" y="7823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789" r="0" b="-172693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763253" y="4909174"/>
            <a:ext cx="19814506" cy="0"/>
          </a:xfrm>
          <a:prstGeom prst="line">
            <a:avLst/>
          </a:prstGeom>
          <a:ln cap="flat" w="47625">
            <a:solidFill>
              <a:srgbClr val="FBF6F1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391166" y="4067150"/>
            <a:ext cx="1636425" cy="1636425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536360" y="4212343"/>
            <a:ext cx="1346037" cy="134603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BF6F1"/>
            </a:solidFill>
            <a:ln w="47625" cap="rnd">
              <a:solidFill>
                <a:srgbClr val="D4EEF8"/>
              </a:solidFill>
              <a:prstDash val="dash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638386" y="4551049"/>
            <a:ext cx="1141985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50"/>
              </a:lnSpc>
              <a:spcBef>
                <a:spcPct val="0"/>
              </a:spcBef>
            </a:pPr>
            <a:r>
              <a:rPr lang="en-US" sz="5000" strike="noStrike" u="none">
                <a:solidFill>
                  <a:srgbClr val="1A7FA8"/>
                </a:solidFill>
                <a:latin typeface="Codec Pro"/>
                <a:ea typeface="Codec Pro"/>
                <a:cs typeface="Codec Pro"/>
                <a:sym typeface="Codec Pro"/>
              </a:rPr>
              <a:t>01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367077" y="4067150"/>
            <a:ext cx="1636425" cy="1636425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512271" y="4212343"/>
            <a:ext cx="1346037" cy="134603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BF6F1"/>
            </a:solidFill>
            <a:ln w="47625" cap="rnd">
              <a:solidFill>
                <a:srgbClr val="D4EEF8"/>
              </a:solidFill>
              <a:prstDash val="dash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614297" y="4551049"/>
            <a:ext cx="1141985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50"/>
              </a:lnSpc>
              <a:spcBef>
                <a:spcPct val="0"/>
              </a:spcBef>
            </a:pPr>
            <a:r>
              <a:rPr lang="en-US" sz="5000" strike="noStrike" u="none">
                <a:solidFill>
                  <a:srgbClr val="1A7FA8"/>
                </a:solidFill>
                <a:latin typeface="Codec Pro"/>
                <a:ea typeface="Codec Pro"/>
                <a:cs typeface="Codec Pro"/>
                <a:sym typeface="Codec Pro"/>
              </a:rPr>
              <a:t>02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346652" y="4067150"/>
            <a:ext cx="1636425" cy="163642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491846" y="4212343"/>
            <a:ext cx="1346037" cy="134603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BF6F1"/>
            </a:solidFill>
            <a:ln w="47625" cap="rnd">
              <a:solidFill>
                <a:srgbClr val="D4EEF8"/>
              </a:solidFill>
              <a:prstDash val="dash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593872" y="4551049"/>
            <a:ext cx="1141985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50"/>
              </a:lnSpc>
              <a:spcBef>
                <a:spcPct val="0"/>
              </a:spcBef>
            </a:pPr>
            <a:r>
              <a:rPr lang="en-US" sz="5000" strike="noStrike" u="none">
                <a:solidFill>
                  <a:srgbClr val="1A7FA8"/>
                </a:solidFill>
                <a:latin typeface="Codec Pro"/>
                <a:ea typeface="Codec Pro"/>
                <a:cs typeface="Codec Pro"/>
                <a:sym typeface="Codec Pro"/>
              </a:rPr>
              <a:t>03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4326227" y="4067150"/>
            <a:ext cx="1636425" cy="163642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471420" y="4212343"/>
            <a:ext cx="1346037" cy="1346037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BF6F1"/>
            </a:solidFill>
            <a:ln w="47625" cap="rnd">
              <a:solidFill>
                <a:srgbClr val="D4EEF8"/>
              </a:solidFill>
              <a:prstDash val="dash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4573447" y="4551049"/>
            <a:ext cx="1141985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50"/>
              </a:lnSpc>
              <a:spcBef>
                <a:spcPct val="0"/>
              </a:spcBef>
            </a:pPr>
            <a:r>
              <a:rPr lang="en-US" sz="5000" strike="noStrike" u="none">
                <a:solidFill>
                  <a:srgbClr val="1A7FA8"/>
                </a:solidFill>
                <a:latin typeface="Codec Pro"/>
                <a:ea typeface="Codec Pro"/>
                <a:cs typeface="Codec Pro"/>
                <a:sym typeface="Codec Pro"/>
              </a:rPr>
              <a:t>04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55528" y="5922649"/>
            <a:ext cx="4032312" cy="4037440"/>
            <a:chOff x="0" y="0"/>
            <a:chExt cx="3071558" cy="30754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071558" cy="3075464"/>
            </a:xfrm>
            <a:custGeom>
              <a:avLst/>
              <a:gdLst/>
              <a:ahLst/>
              <a:cxnLst/>
              <a:rect r="r" b="b" t="t" l="l"/>
              <a:pathLst>
                <a:path h="3075464" w="3071558">
                  <a:moveTo>
                    <a:pt x="72959" y="0"/>
                  </a:moveTo>
                  <a:lnTo>
                    <a:pt x="2998599" y="0"/>
                  </a:lnTo>
                  <a:cubicBezTo>
                    <a:pt x="3038893" y="0"/>
                    <a:pt x="3071558" y="32665"/>
                    <a:pt x="3071558" y="72959"/>
                  </a:cubicBezTo>
                  <a:lnTo>
                    <a:pt x="3071558" y="3002505"/>
                  </a:lnTo>
                  <a:cubicBezTo>
                    <a:pt x="3071558" y="3042799"/>
                    <a:pt x="3038893" y="3075464"/>
                    <a:pt x="2998599" y="3075464"/>
                  </a:cubicBezTo>
                  <a:lnTo>
                    <a:pt x="72959" y="3075464"/>
                  </a:lnTo>
                  <a:cubicBezTo>
                    <a:pt x="32665" y="3075464"/>
                    <a:pt x="0" y="3042799"/>
                    <a:pt x="0" y="3002505"/>
                  </a:cubicBezTo>
                  <a:lnTo>
                    <a:pt x="0" y="72959"/>
                  </a:lnTo>
                  <a:cubicBezTo>
                    <a:pt x="0" y="32665"/>
                    <a:pt x="32665" y="0"/>
                    <a:pt x="72959" y="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3071558" cy="31040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40032" y="6108561"/>
            <a:ext cx="3666722" cy="3666854"/>
            <a:chOff x="0" y="0"/>
            <a:chExt cx="2793075" cy="279317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793075" cy="2793175"/>
            </a:xfrm>
            <a:custGeom>
              <a:avLst/>
              <a:gdLst/>
              <a:ahLst/>
              <a:cxnLst/>
              <a:rect r="r" b="b" t="t" l="l"/>
              <a:pathLst>
                <a:path h="2793175" w="2793075">
                  <a:moveTo>
                    <a:pt x="46451" y="0"/>
                  </a:moveTo>
                  <a:lnTo>
                    <a:pt x="2746624" y="0"/>
                  </a:lnTo>
                  <a:cubicBezTo>
                    <a:pt x="2772278" y="0"/>
                    <a:pt x="2793075" y="20797"/>
                    <a:pt x="2793075" y="46451"/>
                  </a:cubicBezTo>
                  <a:lnTo>
                    <a:pt x="2793075" y="2746725"/>
                  </a:lnTo>
                  <a:cubicBezTo>
                    <a:pt x="2793075" y="2772379"/>
                    <a:pt x="2772278" y="2793175"/>
                    <a:pt x="2746624" y="2793175"/>
                  </a:cubicBezTo>
                  <a:lnTo>
                    <a:pt x="46451" y="2793175"/>
                  </a:lnTo>
                  <a:cubicBezTo>
                    <a:pt x="20797" y="2793175"/>
                    <a:pt x="0" y="2772379"/>
                    <a:pt x="0" y="2746725"/>
                  </a:cubicBezTo>
                  <a:lnTo>
                    <a:pt x="0" y="46451"/>
                  </a:lnTo>
                  <a:cubicBezTo>
                    <a:pt x="0" y="20797"/>
                    <a:pt x="20797" y="0"/>
                    <a:pt x="46451" y="0"/>
                  </a:cubicBezTo>
                  <a:close/>
                </a:path>
              </a:pathLst>
            </a:custGeom>
            <a:solidFill>
              <a:srgbClr val="FBF6F1"/>
            </a:solidFill>
            <a:ln w="47625" cap="rnd">
              <a:solidFill>
                <a:srgbClr val="D4EEF8"/>
              </a:solidFill>
              <a:prstDash val="dash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2793075" cy="2821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355344" y="6736731"/>
            <a:ext cx="3156134" cy="2301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8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Permite que familiares y cuidadores mantengan una visión clara del estado del cuidado, las actividades realizadas y aquellas que aún se encuentran pendientes.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5176233" y="5923887"/>
            <a:ext cx="3967767" cy="4036202"/>
            <a:chOff x="0" y="0"/>
            <a:chExt cx="3022392" cy="307452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022392" cy="3074521"/>
            </a:xfrm>
            <a:custGeom>
              <a:avLst/>
              <a:gdLst/>
              <a:ahLst/>
              <a:cxnLst/>
              <a:rect r="r" b="b" t="t" l="l"/>
              <a:pathLst>
                <a:path h="3074521" w="3022392">
                  <a:moveTo>
                    <a:pt x="74146" y="0"/>
                  </a:moveTo>
                  <a:lnTo>
                    <a:pt x="2948246" y="0"/>
                  </a:lnTo>
                  <a:cubicBezTo>
                    <a:pt x="2989196" y="0"/>
                    <a:pt x="3022392" y="33196"/>
                    <a:pt x="3022392" y="74146"/>
                  </a:cubicBezTo>
                  <a:lnTo>
                    <a:pt x="3022392" y="3000375"/>
                  </a:lnTo>
                  <a:cubicBezTo>
                    <a:pt x="3022392" y="3041325"/>
                    <a:pt x="2989196" y="3074521"/>
                    <a:pt x="2948246" y="3074521"/>
                  </a:cubicBezTo>
                  <a:lnTo>
                    <a:pt x="74146" y="3074521"/>
                  </a:lnTo>
                  <a:cubicBezTo>
                    <a:pt x="33196" y="3074521"/>
                    <a:pt x="0" y="3041325"/>
                    <a:pt x="0" y="3000375"/>
                  </a:cubicBezTo>
                  <a:lnTo>
                    <a:pt x="0" y="74146"/>
                  </a:lnTo>
                  <a:cubicBezTo>
                    <a:pt x="0" y="33196"/>
                    <a:pt x="33196" y="0"/>
                    <a:pt x="74146" y="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3022392" cy="3103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414012" y="6108561"/>
            <a:ext cx="3553291" cy="3666854"/>
            <a:chOff x="0" y="0"/>
            <a:chExt cx="2706671" cy="279317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706671" cy="2793175"/>
            </a:xfrm>
            <a:custGeom>
              <a:avLst/>
              <a:gdLst/>
              <a:ahLst/>
              <a:cxnLst/>
              <a:rect r="r" b="b" t="t" l="l"/>
              <a:pathLst>
                <a:path h="2793175" w="2706671">
                  <a:moveTo>
                    <a:pt x="47934" y="0"/>
                  </a:moveTo>
                  <a:lnTo>
                    <a:pt x="2658737" y="0"/>
                  </a:lnTo>
                  <a:cubicBezTo>
                    <a:pt x="2671450" y="0"/>
                    <a:pt x="2683642" y="5050"/>
                    <a:pt x="2692631" y="14039"/>
                  </a:cubicBezTo>
                  <a:cubicBezTo>
                    <a:pt x="2701621" y="23029"/>
                    <a:pt x="2706671" y="35221"/>
                    <a:pt x="2706671" y="47934"/>
                  </a:cubicBezTo>
                  <a:lnTo>
                    <a:pt x="2706671" y="2745242"/>
                  </a:lnTo>
                  <a:cubicBezTo>
                    <a:pt x="2706671" y="2757955"/>
                    <a:pt x="2701621" y="2770147"/>
                    <a:pt x="2692631" y="2779136"/>
                  </a:cubicBezTo>
                  <a:cubicBezTo>
                    <a:pt x="2683642" y="2788125"/>
                    <a:pt x="2671450" y="2793175"/>
                    <a:pt x="2658737" y="2793175"/>
                  </a:cubicBezTo>
                  <a:lnTo>
                    <a:pt x="47934" y="2793175"/>
                  </a:lnTo>
                  <a:cubicBezTo>
                    <a:pt x="35221" y="2793175"/>
                    <a:pt x="23029" y="2788125"/>
                    <a:pt x="14039" y="2779136"/>
                  </a:cubicBezTo>
                  <a:cubicBezTo>
                    <a:pt x="5050" y="2770147"/>
                    <a:pt x="0" y="2757955"/>
                    <a:pt x="0" y="2745242"/>
                  </a:cubicBezTo>
                  <a:lnTo>
                    <a:pt x="0" y="47934"/>
                  </a:lnTo>
                  <a:cubicBezTo>
                    <a:pt x="0" y="35221"/>
                    <a:pt x="5050" y="23029"/>
                    <a:pt x="14039" y="14039"/>
                  </a:cubicBezTo>
                  <a:cubicBezTo>
                    <a:pt x="23029" y="5050"/>
                    <a:pt x="35221" y="0"/>
                    <a:pt x="47934" y="0"/>
                  </a:cubicBezTo>
                  <a:close/>
                </a:path>
              </a:pathLst>
            </a:custGeom>
            <a:solidFill>
              <a:srgbClr val="FBF6F1"/>
            </a:solidFill>
            <a:ln w="47625" cap="rnd">
              <a:solidFill>
                <a:srgbClr val="D4EEF8"/>
              </a:solidFill>
              <a:prstDash val="dash"/>
              <a:round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2706671" cy="2821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5499034" y="6690360"/>
            <a:ext cx="3404468" cy="2948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8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Facilita la organización de turnos, responsabilidades y actividades, disminuyendo la dependencia de mensajes dispersos y mejorando la comunicación entre quienes participan del cuidado.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386403" y="5923887"/>
            <a:ext cx="3976022" cy="4036202"/>
            <a:chOff x="0" y="0"/>
            <a:chExt cx="3028680" cy="307452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028680" cy="3074521"/>
            </a:xfrm>
            <a:custGeom>
              <a:avLst/>
              <a:gdLst/>
              <a:ahLst/>
              <a:cxnLst/>
              <a:rect r="r" b="b" t="t" l="l"/>
              <a:pathLst>
                <a:path h="3074521" w="3028680">
                  <a:moveTo>
                    <a:pt x="73992" y="0"/>
                  </a:moveTo>
                  <a:lnTo>
                    <a:pt x="2954689" y="0"/>
                  </a:lnTo>
                  <a:cubicBezTo>
                    <a:pt x="2995553" y="0"/>
                    <a:pt x="3028680" y="33127"/>
                    <a:pt x="3028680" y="73992"/>
                  </a:cubicBezTo>
                  <a:lnTo>
                    <a:pt x="3028680" y="3000529"/>
                  </a:lnTo>
                  <a:cubicBezTo>
                    <a:pt x="3028680" y="3041394"/>
                    <a:pt x="2995553" y="3074521"/>
                    <a:pt x="2954689" y="3074521"/>
                  </a:cubicBezTo>
                  <a:lnTo>
                    <a:pt x="73992" y="3074521"/>
                  </a:lnTo>
                  <a:cubicBezTo>
                    <a:pt x="33127" y="3074521"/>
                    <a:pt x="0" y="3041394"/>
                    <a:pt x="0" y="3000529"/>
                  </a:cubicBezTo>
                  <a:lnTo>
                    <a:pt x="0" y="73992"/>
                  </a:lnTo>
                  <a:cubicBezTo>
                    <a:pt x="0" y="33127"/>
                    <a:pt x="33127" y="0"/>
                    <a:pt x="73992" y="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3028680" cy="3103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570968" y="6108561"/>
            <a:ext cx="3595770" cy="3666854"/>
            <a:chOff x="0" y="0"/>
            <a:chExt cx="2739028" cy="279317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739028" cy="2793175"/>
            </a:xfrm>
            <a:custGeom>
              <a:avLst/>
              <a:gdLst/>
              <a:ahLst/>
              <a:cxnLst/>
              <a:rect r="r" b="b" t="t" l="l"/>
              <a:pathLst>
                <a:path h="2793175" w="2739028">
                  <a:moveTo>
                    <a:pt x="47367" y="0"/>
                  </a:moveTo>
                  <a:lnTo>
                    <a:pt x="2691661" y="0"/>
                  </a:lnTo>
                  <a:cubicBezTo>
                    <a:pt x="2704223" y="0"/>
                    <a:pt x="2716271" y="4990"/>
                    <a:pt x="2725154" y="13874"/>
                  </a:cubicBezTo>
                  <a:cubicBezTo>
                    <a:pt x="2734038" y="22757"/>
                    <a:pt x="2739028" y="34805"/>
                    <a:pt x="2739028" y="47367"/>
                  </a:cubicBezTo>
                  <a:lnTo>
                    <a:pt x="2739028" y="2745808"/>
                  </a:lnTo>
                  <a:cubicBezTo>
                    <a:pt x="2739028" y="2771968"/>
                    <a:pt x="2717821" y="2793175"/>
                    <a:pt x="2691661" y="2793175"/>
                  </a:cubicBezTo>
                  <a:lnTo>
                    <a:pt x="47367" y="2793175"/>
                  </a:lnTo>
                  <a:cubicBezTo>
                    <a:pt x="34805" y="2793175"/>
                    <a:pt x="22757" y="2788185"/>
                    <a:pt x="13874" y="2779302"/>
                  </a:cubicBezTo>
                  <a:cubicBezTo>
                    <a:pt x="4990" y="2770419"/>
                    <a:pt x="0" y="2758371"/>
                    <a:pt x="0" y="2745808"/>
                  </a:cubicBezTo>
                  <a:lnTo>
                    <a:pt x="0" y="47367"/>
                  </a:lnTo>
                  <a:cubicBezTo>
                    <a:pt x="0" y="34805"/>
                    <a:pt x="4990" y="22757"/>
                    <a:pt x="13874" y="13874"/>
                  </a:cubicBezTo>
                  <a:cubicBezTo>
                    <a:pt x="22757" y="4990"/>
                    <a:pt x="34805" y="0"/>
                    <a:pt x="47367" y="0"/>
                  </a:cubicBezTo>
                  <a:close/>
                </a:path>
              </a:pathLst>
            </a:custGeom>
            <a:solidFill>
              <a:srgbClr val="FBF6F1"/>
            </a:solidFill>
            <a:ln w="47625" cap="rnd">
              <a:solidFill>
                <a:srgbClr val="D4EEF8"/>
              </a:solidFill>
              <a:prstDash val="dash"/>
              <a:round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2739028" cy="2821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9753600" y="6690360"/>
            <a:ext cx="3303400" cy="2948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8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Al ser una plataforma web responsive, RutiMed puede utilizarse desde computador, tablet o smartphone, sin necesidad de instalar una aplicación y facilitando el acceso desde distintos dispositivos.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3600551" y="5923887"/>
            <a:ext cx="4018114" cy="4036202"/>
            <a:chOff x="0" y="0"/>
            <a:chExt cx="3060743" cy="307452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060743" cy="3074521"/>
            </a:xfrm>
            <a:custGeom>
              <a:avLst/>
              <a:gdLst/>
              <a:ahLst/>
              <a:cxnLst/>
              <a:rect r="r" b="b" t="t" l="l"/>
              <a:pathLst>
                <a:path h="3074521" w="3060743">
                  <a:moveTo>
                    <a:pt x="73217" y="0"/>
                  </a:moveTo>
                  <a:lnTo>
                    <a:pt x="2987526" y="0"/>
                  </a:lnTo>
                  <a:cubicBezTo>
                    <a:pt x="3027963" y="0"/>
                    <a:pt x="3060743" y="32780"/>
                    <a:pt x="3060743" y="73217"/>
                  </a:cubicBezTo>
                  <a:lnTo>
                    <a:pt x="3060743" y="3001304"/>
                  </a:lnTo>
                  <a:cubicBezTo>
                    <a:pt x="3060743" y="3041741"/>
                    <a:pt x="3027963" y="3074521"/>
                    <a:pt x="2987526" y="3074521"/>
                  </a:cubicBezTo>
                  <a:lnTo>
                    <a:pt x="73217" y="3074521"/>
                  </a:lnTo>
                  <a:cubicBezTo>
                    <a:pt x="32780" y="3074521"/>
                    <a:pt x="0" y="3041741"/>
                    <a:pt x="0" y="3001304"/>
                  </a:cubicBezTo>
                  <a:lnTo>
                    <a:pt x="0" y="73217"/>
                  </a:lnTo>
                  <a:cubicBezTo>
                    <a:pt x="0" y="32780"/>
                    <a:pt x="32780" y="0"/>
                    <a:pt x="73217" y="0"/>
                  </a:cubicBez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3060743" cy="3103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781526" y="6108561"/>
            <a:ext cx="3631246" cy="3666854"/>
            <a:chOff x="0" y="0"/>
            <a:chExt cx="2766052" cy="279317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766052" cy="2793175"/>
            </a:xfrm>
            <a:custGeom>
              <a:avLst/>
              <a:gdLst/>
              <a:ahLst/>
              <a:cxnLst/>
              <a:rect r="r" b="b" t="t" l="l"/>
              <a:pathLst>
                <a:path h="2793175" w="2766052">
                  <a:moveTo>
                    <a:pt x="46905" y="0"/>
                  </a:moveTo>
                  <a:lnTo>
                    <a:pt x="2719147" y="0"/>
                  </a:lnTo>
                  <a:cubicBezTo>
                    <a:pt x="2731587" y="0"/>
                    <a:pt x="2743517" y="4942"/>
                    <a:pt x="2752313" y="13738"/>
                  </a:cubicBezTo>
                  <a:cubicBezTo>
                    <a:pt x="2761110" y="22534"/>
                    <a:pt x="2766052" y="34465"/>
                    <a:pt x="2766052" y="46905"/>
                  </a:cubicBezTo>
                  <a:lnTo>
                    <a:pt x="2766052" y="2746271"/>
                  </a:lnTo>
                  <a:cubicBezTo>
                    <a:pt x="2766052" y="2772176"/>
                    <a:pt x="2745052" y="2793175"/>
                    <a:pt x="2719147" y="2793175"/>
                  </a:cubicBezTo>
                  <a:lnTo>
                    <a:pt x="46905" y="2793175"/>
                  </a:lnTo>
                  <a:cubicBezTo>
                    <a:pt x="21000" y="2793175"/>
                    <a:pt x="0" y="2772176"/>
                    <a:pt x="0" y="2746271"/>
                  </a:cubicBezTo>
                  <a:lnTo>
                    <a:pt x="0" y="46905"/>
                  </a:lnTo>
                  <a:cubicBezTo>
                    <a:pt x="0" y="21000"/>
                    <a:pt x="21000" y="0"/>
                    <a:pt x="46905" y="0"/>
                  </a:cubicBezTo>
                  <a:close/>
                </a:path>
              </a:pathLst>
            </a:custGeom>
            <a:solidFill>
              <a:srgbClr val="FBF6F1"/>
            </a:solidFill>
            <a:ln w="47625" cap="rnd">
              <a:solidFill>
                <a:srgbClr val="D4EEF8"/>
              </a:solidFill>
              <a:prstDash val="dash"/>
              <a:round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2766052" cy="2821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3848201" y="6941709"/>
            <a:ext cx="3564571" cy="2625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80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Centraliza registros de medicamentos, citas, actividades, turnos y bitácoras, permitiendo consultar la información de manera ordenada y apoyar la continuidad del cuidado domiciliario.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148864" y="848652"/>
            <a:ext cx="599027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439"/>
              </a:lnSpc>
              <a:spcBef>
                <a:spcPct val="0"/>
              </a:spcBef>
            </a:pPr>
            <a:r>
              <a:rPr lang="en-US" b="true" sz="6999" spc="-321" strike="noStrike" u="none">
                <a:solidFill>
                  <a:srgbClr val="1A7FA8"/>
                </a:solidFill>
                <a:latin typeface="Raleway Bold"/>
                <a:ea typeface="Raleway Bold"/>
                <a:cs typeface="Raleway Bold"/>
                <a:sym typeface="Raleway Bold"/>
              </a:rPr>
              <a:t>Justificación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737782" y="1909419"/>
            <a:ext cx="15181566" cy="193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739"/>
              </a:lnSpc>
              <a:spcBef>
                <a:spcPct val="0"/>
              </a:spcBef>
            </a:pPr>
            <a:r>
              <a:rPr lang="en-US" b="true" sz="3399" spc="-15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Implementar una solución web como RutiMed responde a la necesidad de facilitar el acceso al registro digital del cuidado domiciliario, sin barreras de instalación y desde distintos dispositivos, fortaleciendo la coordinación y el seguimiento por parte de la red de apoyo.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69450" y="6190377"/>
            <a:ext cx="3404468" cy="384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7"/>
              </a:lnSpc>
            </a:pPr>
            <a:r>
              <a:rPr lang="en-US" b="true" sz="219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Continuidad del cuidado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5747368" y="6169047"/>
            <a:ext cx="2925539" cy="384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7"/>
              </a:lnSpc>
            </a:pPr>
            <a:r>
              <a:rPr lang="en-US" b="true" sz="219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Mejor</a:t>
            </a:r>
            <a:r>
              <a:rPr lang="en-US" b="true" sz="219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coordinación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753600" y="6218265"/>
            <a:ext cx="2925539" cy="384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7"/>
              </a:lnSpc>
            </a:pPr>
            <a:r>
              <a:rPr lang="en-US" b="true" sz="219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Accesibili</a:t>
            </a:r>
            <a:r>
              <a:rPr lang="en-US" b="true" sz="219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dad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916242" y="6218265"/>
            <a:ext cx="3343058" cy="736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7"/>
              </a:lnSpc>
            </a:pPr>
            <a:r>
              <a:rPr lang="en-US" b="true" sz="219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Seguimiento de la inform</a:t>
            </a:r>
            <a:r>
              <a:rPr lang="en-US" b="true" sz="219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ación</a:t>
            </a:r>
          </a:p>
        </p:txBody>
      </p:sp>
      <p:sp>
        <p:nvSpPr>
          <p:cNvPr name="Freeform 65" id="65"/>
          <p:cNvSpPr/>
          <p:nvPr/>
        </p:nvSpPr>
        <p:spPr>
          <a:xfrm flipH="false" flipV="false" rot="0">
            <a:off x="14237575" y="246357"/>
            <a:ext cx="3438270" cy="782343"/>
          </a:xfrm>
          <a:custGeom>
            <a:avLst/>
            <a:gdLst/>
            <a:ahLst/>
            <a:cxnLst/>
            <a:rect r="r" b="b" t="t" l="l"/>
            <a:pathLst>
              <a:path h="782343" w="3438270">
                <a:moveTo>
                  <a:pt x="0" y="0"/>
                </a:moveTo>
                <a:lnTo>
                  <a:pt x="3438270" y="0"/>
                </a:lnTo>
                <a:lnTo>
                  <a:pt x="3438270" y="782343"/>
                </a:lnTo>
                <a:lnTo>
                  <a:pt x="0" y="7823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789" r="0" b="-172693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46720" y="1120224"/>
            <a:ext cx="4618345" cy="4199681"/>
            <a:chOff x="0" y="0"/>
            <a:chExt cx="4232323" cy="38486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32323" cy="3848653"/>
            </a:xfrm>
            <a:custGeom>
              <a:avLst/>
              <a:gdLst/>
              <a:ahLst/>
              <a:cxnLst/>
              <a:rect r="r" b="b" t="t" l="l"/>
              <a:pathLst>
                <a:path h="3848653" w="4232323">
                  <a:moveTo>
                    <a:pt x="63701" y="0"/>
                  </a:moveTo>
                  <a:lnTo>
                    <a:pt x="4168623" y="0"/>
                  </a:lnTo>
                  <a:cubicBezTo>
                    <a:pt x="4185517" y="0"/>
                    <a:pt x="4201720" y="6711"/>
                    <a:pt x="4213666" y="18658"/>
                  </a:cubicBezTo>
                  <a:cubicBezTo>
                    <a:pt x="4225612" y="30604"/>
                    <a:pt x="4232323" y="46806"/>
                    <a:pt x="4232323" y="63701"/>
                  </a:cubicBezTo>
                  <a:lnTo>
                    <a:pt x="4232323" y="3784953"/>
                  </a:lnTo>
                  <a:cubicBezTo>
                    <a:pt x="4232323" y="3820133"/>
                    <a:pt x="4203803" y="3848653"/>
                    <a:pt x="4168623" y="3848653"/>
                  </a:cubicBezTo>
                  <a:lnTo>
                    <a:pt x="63701" y="3848653"/>
                  </a:lnTo>
                  <a:cubicBezTo>
                    <a:pt x="46806" y="3848653"/>
                    <a:pt x="30604" y="3841942"/>
                    <a:pt x="18658" y="3829996"/>
                  </a:cubicBezTo>
                  <a:cubicBezTo>
                    <a:pt x="6711" y="3818050"/>
                    <a:pt x="0" y="3801847"/>
                    <a:pt x="0" y="3784953"/>
                  </a:cubicBezTo>
                  <a:lnTo>
                    <a:pt x="0" y="63701"/>
                  </a:lnTo>
                  <a:cubicBezTo>
                    <a:pt x="0" y="46806"/>
                    <a:pt x="6711" y="30604"/>
                    <a:pt x="18658" y="18658"/>
                  </a:cubicBezTo>
                  <a:cubicBezTo>
                    <a:pt x="30604" y="6711"/>
                    <a:pt x="46806" y="0"/>
                    <a:pt x="63701" y="0"/>
                  </a:cubicBezTo>
                  <a:close/>
                </a:path>
              </a:pathLst>
            </a:custGeom>
            <a:solidFill>
              <a:srgbClr val="D4EE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232323" cy="3877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470348" y="1301917"/>
            <a:ext cx="4171089" cy="3802890"/>
            <a:chOff x="0" y="0"/>
            <a:chExt cx="3822451" cy="34850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22451" cy="3485028"/>
            </a:xfrm>
            <a:custGeom>
              <a:avLst/>
              <a:gdLst/>
              <a:ahLst/>
              <a:cxnLst/>
              <a:rect r="r" b="b" t="t" l="l"/>
              <a:pathLst>
                <a:path h="3485028" w="3822451">
                  <a:moveTo>
                    <a:pt x="40834" y="0"/>
                  </a:moveTo>
                  <a:lnTo>
                    <a:pt x="3781617" y="0"/>
                  </a:lnTo>
                  <a:cubicBezTo>
                    <a:pt x="3804169" y="0"/>
                    <a:pt x="3822451" y="18282"/>
                    <a:pt x="3822451" y="40834"/>
                  </a:cubicBezTo>
                  <a:lnTo>
                    <a:pt x="3822451" y="3444194"/>
                  </a:lnTo>
                  <a:cubicBezTo>
                    <a:pt x="3822451" y="3466746"/>
                    <a:pt x="3804169" y="3485028"/>
                    <a:pt x="3781617" y="3485028"/>
                  </a:cubicBezTo>
                  <a:lnTo>
                    <a:pt x="40834" y="3485028"/>
                  </a:lnTo>
                  <a:cubicBezTo>
                    <a:pt x="18282" y="3485028"/>
                    <a:pt x="0" y="3466746"/>
                    <a:pt x="0" y="3444194"/>
                  </a:cubicBezTo>
                  <a:lnTo>
                    <a:pt x="0" y="40834"/>
                  </a:lnTo>
                  <a:cubicBezTo>
                    <a:pt x="0" y="18282"/>
                    <a:pt x="18282" y="0"/>
                    <a:pt x="40834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3822451" cy="3513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46720" y="5733583"/>
            <a:ext cx="4618345" cy="4341586"/>
            <a:chOff x="0" y="0"/>
            <a:chExt cx="4232323" cy="39786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32323" cy="3978697"/>
            </a:xfrm>
            <a:custGeom>
              <a:avLst/>
              <a:gdLst/>
              <a:ahLst/>
              <a:cxnLst/>
              <a:rect r="r" b="b" t="t" l="l"/>
              <a:pathLst>
                <a:path h="3978697" w="4232323">
                  <a:moveTo>
                    <a:pt x="63701" y="0"/>
                  </a:moveTo>
                  <a:lnTo>
                    <a:pt x="4168623" y="0"/>
                  </a:lnTo>
                  <a:cubicBezTo>
                    <a:pt x="4185517" y="0"/>
                    <a:pt x="4201720" y="6711"/>
                    <a:pt x="4213666" y="18658"/>
                  </a:cubicBezTo>
                  <a:cubicBezTo>
                    <a:pt x="4225612" y="30604"/>
                    <a:pt x="4232323" y="46806"/>
                    <a:pt x="4232323" y="63701"/>
                  </a:cubicBezTo>
                  <a:lnTo>
                    <a:pt x="4232323" y="3914996"/>
                  </a:lnTo>
                  <a:cubicBezTo>
                    <a:pt x="4232323" y="3950177"/>
                    <a:pt x="4203803" y="3978697"/>
                    <a:pt x="4168623" y="3978697"/>
                  </a:cubicBezTo>
                  <a:lnTo>
                    <a:pt x="63701" y="3978697"/>
                  </a:lnTo>
                  <a:cubicBezTo>
                    <a:pt x="46806" y="3978697"/>
                    <a:pt x="30604" y="3971986"/>
                    <a:pt x="18658" y="3960040"/>
                  </a:cubicBezTo>
                  <a:cubicBezTo>
                    <a:pt x="6711" y="3948093"/>
                    <a:pt x="0" y="3931891"/>
                    <a:pt x="0" y="3914996"/>
                  </a:cubicBezTo>
                  <a:lnTo>
                    <a:pt x="0" y="63701"/>
                  </a:lnTo>
                  <a:cubicBezTo>
                    <a:pt x="0" y="46806"/>
                    <a:pt x="6711" y="30604"/>
                    <a:pt x="18658" y="18658"/>
                  </a:cubicBezTo>
                  <a:cubicBezTo>
                    <a:pt x="30604" y="6711"/>
                    <a:pt x="46806" y="0"/>
                    <a:pt x="63701" y="0"/>
                  </a:cubicBezTo>
                  <a:close/>
                </a:path>
              </a:pathLst>
            </a:custGeom>
            <a:solidFill>
              <a:srgbClr val="D4EEF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4232323" cy="4007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470348" y="5943726"/>
            <a:ext cx="4171089" cy="3783233"/>
            <a:chOff x="0" y="0"/>
            <a:chExt cx="3822451" cy="34670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22451" cy="3467014"/>
            </a:xfrm>
            <a:custGeom>
              <a:avLst/>
              <a:gdLst/>
              <a:ahLst/>
              <a:cxnLst/>
              <a:rect r="r" b="b" t="t" l="l"/>
              <a:pathLst>
                <a:path h="3467014" w="3822451">
                  <a:moveTo>
                    <a:pt x="40834" y="0"/>
                  </a:moveTo>
                  <a:lnTo>
                    <a:pt x="3781617" y="0"/>
                  </a:lnTo>
                  <a:cubicBezTo>
                    <a:pt x="3804169" y="0"/>
                    <a:pt x="3822451" y="18282"/>
                    <a:pt x="3822451" y="40834"/>
                  </a:cubicBezTo>
                  <a:lnTo>
                    <a:pt x="3822451" y="3426180"/>
                  </a:lnTo>
                  <a:cubicBezTo>
                    <a:pt x="3822451" y="3448733"/>
                    <a:pt x="3804169" y="3467014"/>
                    <a:pt x="3781617" y="3467014"/>
                  </a:cubicBezTo>
                  <a:lnTo>
                    <a:pt x="40834" y="3467014"/>
                  </a:lnTo>
                  <a:cubicBezTo>
                    <a:pt x="18282" y="3467014"/>
                    <a:pt x="0" y="3448733"/>
                    <a:pt x="0" y="3426180"/>
                  </a:cubicBezTo>
                  <a:lnTo>
                    <a:pt x="0" y="40834"/>
                  </a:lnTo>
                  <a:cubicBezTo>
                    <a:pt x="0" y="18282"/>
                    <a:pt x="18282" y="0"/>
                    <a:pt x="40834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3822451" cy="3495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084408" y="1120224"/>
            <a:ext cx="4742512" cy="4199681"/>
            <a:chOff x="0" y="0"/>
            <a:chExt cx="4346112" cy="384865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46112" cy="3848653"/>
            </a:xfrm>
            <a:custGeom>
              <a:avLst/>
              <a:gdLst/>
              <a:ahLst/>
              <a:cxnLst/>
              <a:rect r="r" b="b" t="t" l="l"/>
              <a:pathLst>
                <a:path h="3848653" w="4346112">
                  <a:moveTo>
                    <a:pt x="62033" y="0"/>
                  </a:moveTo>
                  <a:lnTo>
                    <a:pt x="4284079" y="0"/>
                  </a:lnTo>
                  <a:cubicBezTo>
                    <a:pt x="4318339" y="0"/>
                    <a:pt x="4346112" y="27773"/>
                    <a:pt x="4346112" y="62033"/>
                  </a:cubicBezTo>
                  <a:lnTo>
                    <a:pt x="4346112" y="3786620"/>
                  </a:lnTo>
                  <a:cubicBezTo>
                    <a:pt x="4346112" y="3803073"/>
                    <a:pt x="4339576" y="3818851"/>
                    <a:pt x="4327943" y="3830484"/>
                  </a:cubicBezTo>
                  <a:cubicBezTo>
                    <a:pt x="4316309" y="3842118"/>
                    <a:pt x="4300531" y="3848653"/>
                    <a:pt x="4284079" y="3848653"/>
                  </a:cubicBezTo>
                  <a:lnTo>
                    <a:pt x="62033" y="3848653"/>
                  </a:lnTo>
                  <a:cubicBezTo>
                    <a:pt x="45581" y="3848653"/>
                    <a:pt x="29803" y="3842118"/>
                    <a:pt x="18169" y="3830484"/>
                  </a:cubicBezTo>
                  <a:cubicBezTo>
                    <a:pt x="6536" y="3818851"/>
                    <a:pt x="0" y="3803073"/>
                    <a:pt x="0" y="3786620"/>
                  </a:cubicBezTo>
                  <a:lnTo>
                    <a:pt x="0" y="62033"/>
                  </a:lnTo>
                  <a:cubicBezTo>
                    <a:pt x="0" y="45581"/>
                    <a:pt x="6536" y="29803"/>
                    <a:pt x="18169" y="18169"/>
                  </a:cubicBezTo>
                  <a:cubicBezTo>
                    <a:pt x="29803" y="6536"/>
                    <a:pt x="45581" y="0"/>
                    <a:pt x="62033" y="0"/>
                  </a:cubicBezTo>
                  <a:close/>
                </a:path>
              </a:pathLst>
            </a:custGeom>
            <a:solidFill>
              <a:srgbClr val="D4EEF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4346112" cy="3877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308036" y="1301917"/>
            <a:ext cx="4259779" cy="3802890"/>
            <a:chOff x="0" y="0"/>
            <a:chExt cx="3903728" cy="348502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03728" cy="3485028"/>
            </a:xfrm>
            <a:custGeom>
              <a:avLst/>
              <a:gdLst/>
              <a:ahLst/>
              <a:cxnLst/>
              <a:rect r="r" b="b" t="t" l="l"/>
              <a:pathLst>
                <a:path h="3485028" w="3903728">
                  <a:moveTo>
                    <a:pt x="39984" y="0"/>
                  </a:moveTo>
                  <a:lnTo>
                    <a:pt x="3863744" y="0"/>
                  </a:lnTo>
                  <a:cubicBezTo>
                    <a:pt x="3874349" y="0"/>
                    <a:pt x="3884519" y="4213"/>
                    <a:pt x="3892017" y="11711"/>
                  </a:cubicBezTo>
                  <a:cubicBezTo>
                    <a:pt x="3899516" y="19209"/>
                    <a:pt x="3903728" y="29379"/>
                    <a:pt x="3903728" y="39984"/>
                  </a:cubicBezTo>
                  <a:lnTo>
                    <a:pt x="3903728" y="3445044"/>
                  </a:lnTo>
                  <a:cubicBezTo>
                    <a:pt x="3903728" y="3467126"/>
                    <a:pt x="3885827" y="3485028"/>
                    <a:pt x="3863744" y="3485028"/>
                  </a:cubicBezTo>
                  <a:lnTo>
                    <a:pt x="39984" y="3485028"/>
                  </a:lnTo>
                  <a:cubicBezTo>
                    <a:pt x="29379" y="3485028"/>
                    <a:pt x="19209" y="3480815"/>
                    <a:pt x="11711" y="3473317"/>
                  </a:cubicBezTo>
                  <a:cubicBezTo>
                    <a:pt x="4213" y="3465818"/>
                    <a:pt x="0" y="3455648"/>
                    <a:pt x="0" y="3445044"/>
                  </a:cubicBezTo>
                  <a:lnTo>
                    <a:pt x="0" y="39984"/>
                  </a:lnTo>
                  <a:cubicBezTo>
                    <a:pt x="0" y="29379"/>
                    <a:pt x="4213" y="19209"/>
                    <a:pt x="11711" y="11711"/>
                  </a:cubicBezTo>
                  <a:cubicBezTo>
                    <a:pt x="19209" y="4213"/>
                    <a:pt x="29379" y="0"/>
                    <a:pt x="39984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3903728" cy="3513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084408" y="5728627"/>
            <a:ext cx="4742512" cy="4346542"/>
            <a:chOff x="0" y="0"/>
            <a:chExt cx="4346112" cy="39832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346112" cy="3983239"/>
            </a:xfrm>
            <a:custGeom>
              <a:avLst/>
              <a:gdLst/>
              <a:ahLst/>
              <a:cxnLst/>
              <a:rect r="r" b="b" t="t" l="l"/>
              <a:pathLst>
                <a:path h="3983239" w="4346112">
                  <a:moveTo>
                    <a:pt x="62033" y="0"/>
                  </a:moveTo>
                  <a:lnTo>
                    <a:pt x="4284079" y="0"/>
                  </a:lnTo>
                  <a:cubicBezTo>
                    <a:pt x="4318339" y="0"/>
                    <a:pt x="4346112" y="27773"/>
                    <a:pt x="4346112" y="62033"/>
                  </a:cubicBezTo>
                  <a:lnTo>
                    <a:pt x="4346112" y="3921206"/>
                  </a:lnTo>
                  <a:cubicBezTo>
                    <a:pt x="4346112" y="3937658"/>
                    <a:pt x="4339576" y="3953436"/>
                    <a:pt x="4327943" y="3965070"/>
                  </a:cubicBezTo>
                  <a:cubicBezTo>
                    <a:pt x="4316309" y="3976703"/>
                    <a:pt x="4300531" y="3983239"/>
                    <a:pt x="4284079" y="3983239"/>
                  </a:cubicBezTo>
                  <a:lnTo>
                    <a:pt x="62033" y="3983239"/>
                  </a:lnTo>
                  <a:cubicBezTo>
                    <a:pt x="45581" y="3983239"/>
                    <a:pt x="29803" y="3976703"/>
                    <a:pt x="18169" y="3965070"/>
                  </a:cubicBezTo>
                  <a:cubicBezTo>
                    <a:pt x="6536" y="3953436"/>
                    <a:pt x="0" y="3937658"/>
                    <a:pt x="0" y="3921206"/>
                  </a:cubicBezTo>
                  <a:lnTo>
                    <a:pt x="0" y="62033"/>
                  </a:lnTo>
                  <a:cubicBezTo>
                    <a:pt x="0" y="45581"/>
                    <a:pt x="6536" y="29803"/>
                    <a:pt x="18169" y="18169"/>
                  </a:cubicBezTo>
                  <a:cubicBezTo>
                    <a:pt x="29803" y="6536"/>
                    <a:pt x="45581" y="0"/>
                    <a:pt x="62033" y="0"/>
                  </a:cubicBezTo>
                  <a:close/>
                </a:path>
              </a:pathLst>
            </a:custGeom>
            <a:solidFill>
              <a:srgbClr val="D4EEF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4346112" cy="4011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308036" y="5943726"/>
            <a:ext cx="4259779" cy="3783233"/>
            <a:chOff x="0" y="0"/>
            <a:chExt cx="3903728" cy="346701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903728" cy="3467014"/>
            </a:xfrm>
            <a:custGeom>
              <a:avLst/>
              <a:gdLst/>
              <a:ahLst/>
              <a:cxnLst/>
              <a:rect r="r" b="b" t="t" l="l"/>
              <a:pathLst>
                <a:path h="3467014" w="3903728">
                  <a:moveTo>
                    <a:pt x="39984" y="0"/>
                  </a:moveTo>
                  <a:lnTo>
                    <a:pt x="3863744" y="0"/>
                  </a:lnTo>
                  <a:cubicBezTo>
                    <a:pt x="3874349" y="0"/>
                    <a:pt x="3884519" y="4213"/>
                    <a:pt x="3892017" y="11711"/>
                  </a:cubicBezTo>
                  <a:cubicBezTo>
                    <a:pt x="3899516" y="19209"/>
                    <a:pt x="3903728" y="29379"/>
                    <a:pt x="3903728" y="39984"/>
                  </a:cubicBezTo>
                  <a:lnTo>
                    <a:pt x="3903728" y="3427030"/>
                  </a:lnTo>
                  <a:cubicBezTo>
                    <a:pt x="3903728" y="3437635"/>
                    <a:pt x="3899516" y="3447805"/>
                    <a:pt x="3892017" y="3455303"/>
                  </a:cubicBezTo>
                  <a:cubicBezTo>
                    <a:pt x="3884519" y="3462802"/>
                    <a:pt x="3874349" y="3467014"/>
                    <a:pt x="3863744" y="3467014"/>
                  </a:cubicBezTo>
                  <a:lnTo>
                    <a:pt x="39984" y="3467014"/>
                  </a:lnTo>
                  <a:cubicBezTo>
                    <a:pt x="29379" y="3467014"/>
                    <a:pt x="19209" y="3462802"/>
                    <a:pt x="11711" y="3455303"/>
                  </a:cubicBezTo>
                  <a:cubicBezTo>
                    <a:pt x="4213" y="3447805"/>
                    <a:pt x="0" y="3437635"/>
                    <a:pt x="0" y="3427030"/>
                  </a:cubicBezTo>
                  <a:lnTo>
                    <a:pt x="0" y="39984"/>
                  </a:lnTo>
                  <a:cubicBezTo>
                    <a:pt x="0" y="29379"/>
                    <a:pt x="4213" y="19209"/>
                    <a:pt x="11711" y="11711"/>
                  </a:cubicBezTo>
                  <a:cubicBezTo>
                    <a:pt x="19209" y="4213"/>
                    <a:pt x="29379" y="0"/>
                    <a:pt x="39984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3903728" cy="3495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75789" y="5828503"/>
            <a:ext cx="5733209" cy="4093891"/>
            <a:chOff x="0" y="0"/>
            <a:chExt cx="5254002" cy="375170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254002" cy="3751706"/>
            </a:xfrm>
            <a:custGeom>
              <a:avLst/>
              <a:gdLst/>
              <a:ahLst/>
              <a:cxnLst/>
              <a:rect r="r" b="b" t="t" l="l"/>
              <a:pathLst>
                <a:path h="3751706" w="5254002">
                  <a:moveTo>
                    <a:pt x="51314" y="0"/>
                  </a:moveTo>
                  <a:lnTo>
                    <a:pt x="5202688" y="0"/>
                  </a:lnTo>
                  <a:cubicBezTo>
                    <a:pt x="5231028" y="0"/>
                    <a:pt x="5254002" y="22974"/>
                    <a:pt x="5254002" y="51314"/>
                  </a:cubicBezTo>
                  <a:lnTo>
                    <a:pt x="5254002" y="3700392"/>
                  </a:lnTo>
                  <a:cubicBezTo>
                    <a:pt x="5254002" y="3714001"/>
                    <a:pt x="5248596" y="3727053"/>
                    <a:pt x="5238973" y="3736677"/>
                  </a:cubicBezTo>
                  <a:cubicBezTo>
                    <a:pt x="5229349" y="3746300"/>
                    <a:pt x="5216297" y="3751706"/>
                    <a:pt x="5202688" y="3751706"/>
                  </a:cubicBezTo>
                  <a:lnTo>
                    <a:pt x="51314" y="3751706"/>
                  </a:lnTo>
                  <a:cubicBezTo>
                    <a:pt x="22974" y="3751706"/>
                    <a:pt x="0" y="3728732"/>
                    <a:pt x="0" y="3700392"/>
                  </a:cubicBezTo>
                  <a:lnTo>
                    <a:pt x="0" y="51314"/>
                  </a:lnTo>
                  <a:cubicBezTo>
                    <a:pt x="0" y="22974"/>
                    <a:pt x="22974" y="0"/>
                    <a:pt x="51314" y="0"/>
                  </a:cubicBezTo>
                  <a:close/>
                </a:path>
              </a:pathLst>
            </a:custGeom>
            <a:solidFill>
              <a:srgbClr val="D4EEF8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5254002" cy="3780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128483" y="5733583"/>
            <a:ext cx="5990064" cy="3993376"/>
          </a:xfrm>
          <a:custGeom>
            <a:avLst/>
            <a:gdLst/>
            <a:ahLst/>
            <a:cxnLst/>
            <a:rect r="r" b="b" t="t" l="l"/>
            <a:pathLst>
              <a:path h="3993376" w="5990064">
                <a:moveTo>
                  <a:pt x="0" y="0"/>
                </a:moveTo>
                <a:lnTo>
                  <a:pt x="5990065" y="0"/>
                </a:lnTo>
                <a:lnTo>
                  <a:pt x="5990065" y="3993376"/>
                </a:lnTo>
                <a:lnTo>
                  <a:pt x="0" y="39933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8572273" y="1671455"/>
            <a:ext cx="687643" cy="421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60"/>
              </a:lnSpc>
              <a:spcBef>
                <a:spcPct val="0"/>
              </a:spcBef>
            </a:pPr>
            <a:r>
              <a:rPr lang="en-US" b="true" sz="3000" spc="-123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470348" y="2344221"/>
            <a:ext cx="4171089" cy="2372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96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Los datos serán solicitados únicamente cuando sean necesarios, informando su finalidad y considerando la autorización correspondiente del usuario.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723263" y="6286597"/>
            <a:ext cx="841475" cy="421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60"/>
              </a:lnSpc>
              <a:spcBef>
                <a:spcPct val="0"/>
              </a:spcBef>
            </a:pPr>
            <a:r>
              <a:rPr lang="en-US" b="true" sz="3000" spc="-123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723263" y="6879054"/>
            <a:ext cx="3673977" cy="1982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96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Cada usuario podrá acceder únicamente a la información autorizada según su rol y su relación con el Paciente.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484190" y="1637464"/>
            <a:ext cx="593141" cy="421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60"/>
              </a:lnSpc>
              <a:spcBef>
                <a:spcPct val="0"/>
              </a:spcBef>
            </a:pPr>
            <a:r>
              <a:rPr lang="en-US" b="true" sz="3000" spc="-123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308036" y="2344221"/>
            <a:ext cx="4189441" cy="2372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96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La información será resguardada mediante conexión segura, contraseñas protegidas y controles de seguridad en la base de datos.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324547" y="6286597"/>
            <a:ext cx="912427" cy="421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60"/>
              </a:lnSpc>
              <a:spcBef>
                <a:spcPct val="0"/>
              </a:spcBef>
            </a:pPr>
            <a:r>
              <a:rPr lang="en-US" b="true" sz="3000" spc="-123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413851" y="6879054"/>
            <a:ext cx="4083626" cy="2763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96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Se registrarán acciones relevantes sobre los datos y se habilitarán opciones para solicitar su consulta, actualización o eliminación, según corresponda.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13935" y="673495"/>
            <a:ext cx="6636450" cy="1454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586"/>
              </a:lnSpc>
              <a:spcBef>
                <a:spcPct val="0"/>
              </a:spcBef>
            </a:pPr>
            <a:r>
              <a:rPr lang="en-US" b="true" sz="5700" spc="-262" strike="noStrike" u="none">
                <a:solidFill>
                  <a:srgbClr val="1A7FA8"/>
                </a:solidFill>
                <a:latin typeface="Raleway Bold"/>
                <a:ea typeface="Raleway Bold"/>
                <a:cs typeface="Raleway Bold"/>
                <a:sym typeface="Raleway Bold"/>
              </a:rPr>
              <a:t>Protección de datos personales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75789" y="4134648"/>
            <a:ext cx="5733209" cy="1053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080"/>
              </a:lnSpc>
            </a:pPr>
            <a:r>
              <a:rPr lang="en-US" b="true" sz="4000" spc="-184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Protección de datos durante su ciclo de vida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13935" y="2422114"/>
            <a:ext cx="6813832" cy="1138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842"/>
              </a:lnSpc>
              <a:spcBef>
                <a:spcPct val="0"/>
              </a:spcBef>
            </a:pPr>
            <a:r>
              <a:rPr lang="en-US" b="true" sz="2900" spc="-133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RutiMed considerará los requerimientos de la Ley N.º 21.719, que entra en vigencia el 1 de diciembre de 2026.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377816" y="1637464"/>
            <a:ext cx="3117765" cy="71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6"/>
              </a:lnSpc>
              <a:spcBef>
                <a:spcPct val="0"/>
              </a:spcBef>
            </a:pPr>
            <a:r>
              <a:rPr lang="en-US" b="true" sz="2800" spc="-114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Recolección y consentimiento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141535" y="1645467"/>
            <a:ext cx="3117765" cy="71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6"/>
              </a:lnSpc>
              <a:spcBef>
                <a:spcPct val="0"/>
              </a:spcBef>
            </a:pPr>
            <a:r>
              <a:rPr lang="en-US" b="true" sz="2800" spc="-114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Alma</a:t>
            </a:r>
            <a:r>
              <a:rPr lang="en-US" b="true" sz="2800" spc="-114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cenamiento y protección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523671" y="6286597"/>
            <a:ext cx="2514669" cy="39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76"/>
              </a:lnSpc>
              <a:spcBef>
                <a:spcPct val="0"/>
              </a:spcBef>
            </a:pPr>
            <a:r>
              <a:rPr lang="en-US" b="true" sz="2800" spc="-114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Acc</a:t>
            </a:r>
            <a:r>
              <a:rPr lang="en-US" b="true" sz="2800" spc="-114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eso y uso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141535" y="6137753"/>
            <a:ext cx="3355942" cy="13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6"/>
              </a:lnSpc>
            </a:pPr>
            <a:r>
              <a:rPr lang="en-US" b="true" sz="2800" spc="-114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Trazabi</a:t>
            </a:r>
            <a:r>
              <a:rPr lang="en-US" b="true" sz="2800" spc="-114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lidad y control de datos</a:t>
            </a:r>
          </a:p>
          <a:p>
            <a:pPr algn="ctr">
              <a:lnSpc>
                <a:spcPts val="2576"/>
              </a:lnSpc>
            </a:pPr>
          </a:p>
          <a:p>
            <a:pPr algn="ctr" marL="0" indent="0" lvl="0">
              <a:lnSpc>
                <a:spcPts val="2576"/>
              </a:lnSpc>
              <a:spcBef>
                <a:spcPct val="0"/>
              </a:spcBef>
            </a:pP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4237575" y="246357"/>
            <a:ext cx="3438270" cy="782343"/>
          </a:xfrm>
          <a:custGeom>
            <a:avLst/>
            <a:gdLst/>
            <a:ahLst/>
            <a:cxnLst/>
            <a:rect r="r" b="b" t="t" l="l"/>
            <a:pathLst>
              <a:path h="782343" w="3438270">
                <a:moveTo>
                  <a:pt x="0" y="0"/>
                </a:moveTo>
                <a:lnTo>
                  <a:pt x="3438270" y="0"/>
                </a:lnTo>
                <a:lnTo>
                  <a:pt x="3438270" y="782343"/>
                </a:lnTo>
                <a:lnTo>
                  <a:pt x="0" y="7823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6789" r="0" b="-172693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6903" y="2389631"/>
            <a:ext cx="7100378" cy="5099362"/>
          </a:xfrm>
          <a:custGeom>
            <a:avLst/>
            <a:gdLst/>
            <a:ahLst/>
            <a:cxnLst/>
            <a:rect r="r" b="b" t="t" l="l"/>
            <a:pathLst>
              <a:path h="5099362" w="7100378">
                <a:moveTo>
                  <a:pt x="0" y="0"/>
                </a:moveTo>
                <a:lnTo>
                  <a:pt x="7100379" y="0"/>
                </a:lnTo>
                <a:lnTo>
                  <a:pt x="7100379" y="5099363"/>
                </a:lnTo>
                <a:lnTo>
                  <a:pt x="0" y="50993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79593" y="810927"/>
            <a:ext cx="599027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6439"/>
              </a:lnSpc>
              <a:spcBef>
                <a:spcPct val="0"/>
              </a:spcBef>
            </a:pPr>
            <a:r>
              <a:rPr lang="en-US" b="true" sz="6999" spc="-321" strike="noStrike" u="none">
                <a:solidFill>
                  <a:srgbClr val="1A7FA8"/>
                </a:solidFill>
                <a:latin typeface="Raleway Bold"/>
                <a:ea typeface="Raleway Bold"/>
                <a:cs typeface="Raleway Bold"/>
                <a:sym typeface="Raleway Bold"/>
              </a:rPr>
              <a:t>Alcance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716745" y="928633"/>
            <a:ext cx="6674597" cy="1098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978"/>
              </a:lnSpc>
            </a:pPr>
            <a:r>
              <a:rPr lang="en-US" b="true" sz="3900" spc="-17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Definición del MVP de la plataforma web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10308" y="2322956"/>
            <a:ext cx="9747096" cy="6323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353"/>
              </a:lnSpc>
              <a:buFont typeface="Arial"/>
              <a:buChar char="•"/>
            </a:pPr>
            <a:r>
              <a:rPr lang="en-US" b="true" sz="2599" spc="-20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</a:t>
            </a:r>
            <a:r>
              <a:rPr lang="en-US" b="true" sz="2599" spc="-20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utenticación y roles:</a:t>
            </a:r>
            <a:r>
              <a:rPr lang="en-US" b="true" sz="2599" spc="-20" u="none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acceso para Tutor, Cuidador y Paciente.</a:t>
            </a:r>
          </a:p>
          <a:p>
            <a:pPr algn="l" marL="561339" indent="-280669" lvl="1">
              <a:lnSpc>
                <a:spcPts val="3353"/>
              </a:lnSpc>
              <a:buFont typeface="Arial"/>
              <a:buChar char="•"/>
            </a:pPr>
            <a:r>
              <a:rPr lang="en-US" b="true" sz="2599" spc="-20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</a:t>
            </a:r>
            <a:r>
              <a:rPr lang="en-US" b="true" sz="2599" spc="-20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estión de pacientes:</a:t>
            </a:r>
            <a:r>
              <a:rPr lang="en-US" b="true" sz="2599" spc="-20" u="none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registro y actualización de información relevante.</a:t>
            </a:r>
          </a:p>
          <a:p>
            <a:pPr algn="l" marL="561339" indent="-280669" lvl="1">
              <a:lnSpc>
                <a:spcPts val="3353"/>
              </a:lnSpc>
              <a:buFont typeface="Arial"/>
              <a:buChar char="•"/>
            </a:pPr>
            <a:r>
              <a:rPr lang="en-US" b="true" sz="2599" spc="-20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</a:t>
            </a:r>
            <a:r>
              <a:rPr lang="en-US" b="true" sz="2599" spc="-20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edicamentos: </a:t>
            </a:r>
            <a:r>
              <a:rPr lang="en-US" b="true" sz="2599" spc="-20" u="none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registro de dosis, horarios y administración.</a:t>
            </a:r>
          </a:p>
          <a:p>
            <a:pPr algn="l" marL="561339" indent="-280669" lvl="1">
              <a:lnSpc>
                <a:spcPts val="3353"/>
              </a:lnSpc>
              <a:buFont typeface="Arial"/>
              <a:buChar char="•"/>
            </a:pPr>
            <a:r>
              <a:rPr lang="en-US" b="true" sz="2599" spc="-20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</a:t>
            </a:r>
            <a:r>
              <a:rPr lang="en-US" b="true" sz="2599" spc="-20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itas médicas:</a:t>
            </a:r>
            <a:r>
              <a:rPr lang="en-US" b="true" sz="2599" spc="-20" u="none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organización y seguimiento de citas y controles.</a:t>
            </a:r>
          </a:p>
          <a:p>
            <a:pPr algn="l" marL="561339" indent="-280669" lvl="1">
              <a:lnSpc>
                <a:spcPts val="3353"/>
              </a:lnSpc>
              <a:buFont typeface="Arial"/>
              <a:buChar char="•"/>
            </a:pPr>
            <a:r>
              <a:rPr lang="en-US" b="true" sz="2599" spc="-20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Turnos y actividades:</a:t>
            </a:r>
            <a:r>
              <a:rPr lang="en-US" b="true" sz="2599" spc="-20" u="none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planificación, asignación y seguimiento del cuidado.</a:t>
            </a:r>
          </a:p>
          <a:p>
            <a:pPr algn="l" marL="561339" indent="-280669" lvl="1">
              <a:lnSpc>
                <a:spcPts val="3353"/>
              </a:lnSpc>
              <a:buFont typeface="Arial"/>
              <a:buChar char="•"/>
            </a:pPr>
            <a:r>
              <a:rPr lang="en-US" b="true" sz="2599" spc="-20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Bitácoras y alertas:</a:t>
            </a:r>
            <a:r>
              <a:rPr lang="en-US" b="true" sz="2599" spc="-20" u="none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registro de situaciones y avisos de pendientes.</a:t>
            </a:r>
          </a:p>
          <a:p>
            <a:pPr algn="l" marL="561339" indent="-280669" lvl="1">
              <a:lnSpc>
                <a:spcPts val="3353"/>
              </a:lnSpc>
              <a:buFont typeface="Arial"/>
              <a:buChar char="•"/>
            </a:pPr>
            <a:r>
              <a:rPr lang="en-US" b="true" sz="2599" spc="-20" u="non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Seguimiento del Tutor: </a:t>
            </a:r>
            <a:r>
              <a:rPr lang="en-US" b="true" sz="2599" spc="-20" u="none">
                <a:solidFill>
                  <a:srgbClr val="156669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resumen del cuidado y generación de reportes.</a:t>
            </a:r>
          </a:p>
          <a:p>
            <a:pPr algn="l" marL="0" indent="0" lvl="0">
              <a:lnSpc>
                <a:spcPts val="3353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237575" y="246357"/>
            <a:ext cx="3438270" cy="782343"/>
          </a:xfrm>
          <a:custGeom>
            <a:avLst/>
            <a:gdLst/>
            <a:ahLst/>
            <a:cxnLst/>
            <a:rect r="r" b="b" t="t" l="l"/>
            <a:pathLst>
              <a:path h="782343" w="3438270">
                <a:moveTo>
                  <a:pt x="0" y="0"/>
                </a:moveTo>
                <a:lnTo>
                  <a:pt x="3438270" y="0"/>
                </a:lnTo>
                <a:lnTo>
                  <a:pt x="3438270" y="782343"/>
                </a:lnTo>
                <a:lnTo>
                  <a:pt x="0" y="782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6789" r="0" b="-172693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80504" y="1557972"/>
            <a:ext cx="13219700" cy="8584529"/>
          </a:xfrm>
          <a:custGeom>
            <a:avLst/>
            <a:gdLst/>
            <a:ahLst/>
            <a:cxnLst/>
            <a:rect r="r" b="b" t="t" l="l"/>
            <a:pathLst>
              <a:path h="8584529" w="13219700">
                <a:moveTo>
                  <a:pt x="0" y="0"/>
                </a:moveTo>
                <a:lnTo>
                  <a:pt x="13219700" y="0"/>
                </a:lnTo>
                <a:lnTo>
                  <a:pt x="13219700" y="8584529"/>
                </a:lnTo>
                <a:lnTo>
                  <a:pt x="0" y="858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79" r="-1067" b="-187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79459" y="440282"/>
            <a:ext cx="599027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439"/>
              </a:lnSpc>
              <a:spcBef>
                <a:spcPct val="0"/>
              </a:spcBef>
            </a:pPr>
            <a:r>
              <a:rPr lang="en-US" b="true" sz="6999" spc="-321" strike="noStrike" u="none">
                <a:solidFill>
                  <a:srgbClr val="1A7FA8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Limitaciones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237575" y="246357"/>
            <a:ext cx="3438270" cy="782343"/>
          </a:xfrm>
          <a:custGeom>
            <a:avLst/>
            <a:gdLst/>
            <a:ahLst/>
            <a:cxnLst/>
            <a:rect r="r" b="b" t="t" l="l"/>
            <a:pathLst>
              <a:path h="782343" w="3438270">
                <a:moveTo>
                  <a:pt x="0" y="0"/>
                </a:moveTo>
                <a:lnTo>
                  <a:pt x="3438270" y="0"/>
                </a:lnTo>
                <a:lnTo>
                  <a:pt x="3438270" y="782343"/>
                </a:lnTo>
                <a:lnTo>
                  <a:pt x="0" y="7823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6789" r="0" b="-172693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7457" y="3605493"/>
            <a:ext cx="8608041" cy="5012654"/>
          </a:xfrm>
          <a:custGeom>
            <a:avLst/>
            <a:gdLst/>
            <a:ahLst/>
            <a:cxnLst/>
            <a:rect r="r" b="b" t="t" l="l"/>
            <a:pathLst>
              <a:path h="5012654" w="8608041">
                <a:moveTo>
                  <a:pt x="0" y="0"/>
                </a:moveTo>
                <a:lnTo>
                  <a:pt x="8608041" y="0"/>
                </a:lnTo>
                <a:lnTo>
                  <a:pt x="8608041" y="5012654"/>
                </a:lnTo>
                <a:lnTo>
                  <a:pt x="0" y="5012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05" t="-361" r="-183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8337" y="852699"/>
            <a:ext cx="7125513" cy="169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6439"/>
              </a:lnSpc>
              <a:spcBef>
                <a:spcPct val="0"/>
              </a:spcBef>
            </a:pPr>
            <a:r>
              <a:rPr lang="en-US" b="true" sz="6999" spc="-321" strike="noStrike" u="none">
                <a:solidFill>
                  <a:srgbClr val="1A7FA8"/>
                </a:solidFill>
                <a:latin typeface="Raleway Bold"/>
                <a:ea typeface="Raleway Bold"/>
                <a:cs typeface="Raleway Bold"/>
                <a:sym typeface="Raleway Bold"/>
              </a:rPr>
              <a:t>Metodología Scrum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3823598"/>
            <a:ext cx="6674597" cy="654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998"/>
              </a:lnSpc>
            </a:pPr>
            <a:r>
              <a:rPr lang="en-US" b="true" sz="4900" spc="-225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¿P</a:t>
            </a:r>
            <a:r>
              <a:rPr lang="en-US" b="true" sz="4900" spc="-225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or qué Scrum?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4809441"/>
            <a:ext cx="8721518" cy="3808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82"/>
              </a:lnSpc>
              <a:spcBef>
                <a:spcPct val="0"/>
              </a:spcBef>
            </a:pP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Se eligió Scrum porque permite desarrollar RutiMed de forma progresiva, priorizar las funcionalidades más importantes, revisar los avances periódicamente y realizar ajustes a partir de la retroalimentación obtenida durante el desarrollo del producto.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237575" y="246357"/>
            <a:ext cx="3438270" cy="782343"/>
          </a:xfrm>
          <a:custGeom>
            <a:avLst/>
            <a:gdLst/>
            <a:ahLst/>
            <a:cxnLst/>
            <a:rect r="r" b="b" t="t" l="l"/>
            <a:pathLst>
              <a:path h="782343" w="3438270">
                <a:moveTo>
                  <a:pt x="0" y="0"/>
                </a:moveTo>
                <a:lnTo>
                  <a:pt x="3438270" y="0"/>
                </a:lnTo>
                <a:lnTo>
                  <a:pt x="3438270" y="782343"/>
                </a:lnTo>
                <a:lnTo>
                  <a:pt x="0" y="7823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6789" r="0" b="-172693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67460" y="452920"/>
            <a:ext cx="10570115" cy="882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655"/>
              </a:lnSpc>
              <a:spcBef>
                <a:spcPct val="0"/>
              </a:spcBef>
            </a:pPr>
            <a:r>
              <a:rPr lang="en-US" b="true" sz="6399" spc="-294" strike="noStrike" u="none">
                <a:solidFill>
                  <a:srgbClr val="1A7FA8"/>
                </a:solidFill>
                <a:latin typeface="Raleway Bold"/>
                <a:ea typeface="Raleway Bold"/>
                <a:cs typeface="Raleway Bold"/>
                <a:sym typeface="Raleway Bold"/>
              </a:rPr>
              <a:t>Product</a:t>
            </a:r>
            <a:r>
              <a:rPr lang="en-US" b="true" sz="6399" spc="-294" strike="noStrike" u="none">
                <a:solidFill>
                  <a:srgbClr val="1A7FA8"/>
                </a:solidFill>
                <a:latin typeface="Raleway Bold"/>
                <a:ea typeface="Raleway Bold"/>
                <a:cs typeface="Raleway Bold"/>
                <a:sym typeface="Raleway Bold"/>
              </a:rPr>
              <a:t> Backl</a:t>
            </a:r>
            <a:r>
              <a:rPr lang="en-US" b="true" sz="6399" spc="-294" strike="noStrike" u="none">
                <a:solidFill>
                  <a:srgbClr val="1A7FA8"/>
                </a:solidFill>
                <a:latin typeface="Raleway Bold"/>
                <a:ea typeface="Raleway Bold"/>
                <a:cs typeface="Raleway Bold"/>
                <a:sym typeface="Raleway Bold"/>
              </a:rPr>
              <a:t>o</a:t>
            </a:r>
            <a:r>
              <a:rPr lang="en-US" b="true" sz="6399" spc="-294" strike="noStrike" u="none">
                <a:solidFill>
                  <a:srgbClr val="1A7FA8"/>
                </a:solidFill>
                <a:latin typeface="Raleway Bold"/>
                <a:ea typeface="Raleway Bold"/>
                <a:cs typeface="Raleway Bold"/>
                <a:sym typeface="Raleway Bold"/>
              </a:rPr>
              <a:t>g inicial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237575" y="246357"/>
            <a:ext cx="3438270" cy="782343"/>
          </a:xfrm>
          <a:custGeom>
            <a:avLst/>
            <a:gdLst/>
            <a:ahLst/>
            <a:cxnLst/>
            <a:rect r="r" b="b" t="t" l="l"/>
            <a:pathLst>
              <a:path h="782343" w="3438270">
                <a:moveTo>
                  <a:pt x="0" y="0"/>
                </a:moveTo>
                <a:lnTo>
                  <a:pt x="3438270" y="0"/>
                </a:lnTo>
                <a:lnTo>
                  <a:pt x="3438270" y="782343"/>
                </a:lnTo>
                <a:lnTo>
                  <a:pt x="0" y="7823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789" r="0" b="-17269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37398" y="1732712"/>
            <a:ext cx="11311392" cy="8174496"/>
          </a:xfrm>
          <a:custGeom>
            <a:avLst/>
            <a:gdLst/>
            <a:ahLst/>
            <a:cxnLst/>
            <a:rect r="r" b="b" t="t" l="l"/>
            <a:pathLst>
              <a:path h="8174496" w="11311392">
                <a:moveTo>
                  <a:pt x="0" y="0"/>
                </a:moveTo>
                <a:lnTo>
                  <a:pt x="11311392" y="0"/>
                </a:lnTo>
                <a:lnTo>
                  <a:pt x="11311392" y="8174496"/>
                </a:lnTo>
                <a:lnTo>
                  <a:pt x="0" y="81744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1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063546" y="2711274"/>
            <a:ext cx="6025324" cy="3808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82"/>
              </a:lnSpc>
              <a:spcBef>
                <a:spcPct val="0"/>
              </a:spcBef>
            </a:pPr>
            <a:r>
              <a:rPr lang="en-US" b="true" sz="3319" spc="-26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 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od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ct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Backl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i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nicial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de RutiMed e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stá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omp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es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to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p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53 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eque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imiento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 funcionales or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ani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z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dos po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 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módu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los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,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 pri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ri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d,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a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or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es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,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er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os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de a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tación 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y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es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 de 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avan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</a:t>
            </a:r>
            <a:r>
              <a:rPr lang="en-US" b="true" sz="3319" spc="-26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8572" y="3458379"/>
            <a:ext cx="17211788" cy="6591671"/>
          </a:xfrm>
          <a:custGeom>
            <a:avLst/>
            <a:gdLst/>
            <a:ahLst/>
            <a:cxnLst/>
            <a:rect r="r" b="b" t="t" l="l"/>
            <a:pathLst>
              <a:path h="6591671" w="17211788">
                <a:moveTo>
                  <a:pt x="0" y="0"/>
                </a:moveTo>
                <a:lnTo>
                  <a:pt x="17211789" y="0"/>
                </a:lnTo>
                <a:lnTo>
                  <a:pt x="17211789" y="6591671"/>
                </a:lnTo>
                <a:lnTo>
                  <a:pt x="0" y="65916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477" r="0" b="-2347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58942" y="630301"/>
            <a:ext cx="10570115" cy="882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655"/>
              </a:lnSpc>
              <a:spcBef>
                <a:spcPct val="0"/>
              </a:spcBef>
            </a:pPr>
            <a:r>
              <a:rPr lang="en-US" b="true" sz="6399" spc="-294" strike="noStrike" u="none">
                <a:solidFill>
                  <a:srgbClr val="1A7FA8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Roadmap del Producto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04284" y="2413925"/>
            <a:ext cx="17346076" cy="446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328"/>
              </a:lnSpc>
            </a:pPr>
            <a:r>
              <a:rPr lang="en-US" b="true" sz="3200" spc="-147">
                <a:solidFill>
                  <a:srgbClr val="000000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Planificación general del desarrollo de RutiMed a lo largo del semestre mediante cinco Sprints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237575" y="246357"/>
            <a:ext cx="3438270" cy="782343"/>
          </a:xfrm>
          <a:custGeom>
            <a:avLst/>
            <a:gdLst/>
            <a:ahLst/>
            <a:cxnLst/>
            <a:rect r="r" b="b" t="t" l="l"/>
            <a:pathLst>
              <a:path h="782343" w="3438270">
                <a:moveTo>
                  <a:pt x="0" y="0"/>
                </a:moveTo>
                <a:lnTo>
                  <a:pt x="3438270" y="0"/>
                </a:lnTo>
                <a:lnTo>
                  <a:pt x="3438270" y="782343"/>
                </a:lnTo>
                <a:lnTo>
                  <a:pt x="0" y="7823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6789" r="0" b="-172693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1906" y="2846809"/>
            <a:ext cx="17227908" cy="6008233"/>
          </a:xfrm>
          <a:custGeom>
            <a:avLst/>
            <a:gdLst/>
            <a:ahLst/>
            <a:cxnLst/>
            <a:rect r="r" b="b" t="t" l="l"/>
            <a:pathLst>
              <a:path h="6008233" w="17227908">
                <a:moveTo>
                  <a:pt x="0" y="0"/>
                </a:moveTo>
                <a:lnTo>
                  <a:pt x="17227909" y="0"/>
                </a:lnTo>
                <a:lnTo>
                  <a:pt x="17227909" y="6008233"/>
                </a:lnTo>
                <a:lnTo>
                  <a:pt x="0" y="60082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58942" y="630301"/>
            <a:ext cx="10570115" cy="882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655"/>
              </a:lnSpc>
              <a:spcBef>
                <a:spcPct val="0"/>
              </a:spcBef>
            </a:pPr>
            <a:r>
              <a:rPr lang="en-US" b="true" sz="6399" spc="-294" strike="noStrike" u="none">
                <a:solidFill>
                  <a:srgbClr val="1A7FA8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Procesos de negocio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8185" y="1943596"/>
            <a:ext cx="16711115" cy="539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080"/>
              </a:lnSpc>
            </a:pPr>
            <a:r>
              <a:rPr lang="en-US" b="true" sz="4000" spc="-18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Fluj</a:t>
            </a:r>
            <a:r>
              <a:rPr lang="en-US" b="true" sz="4000" spc="-18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o propuesto de incorporación de cuidador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3123" y="9447847"/>
            <a:ext cx="14603536" cy="399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958"/>
              </a:lnSpc>
            </a:pPr>
            <a:r>
              <a:rPr lang="en-US" b="true" sz="2900" spc="-13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Rep</a:t>
            </a:r>
            <a:r>
              <a:rPr lang="en-US" b="true" sz="2900" spc="-13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resentación preliminar del proceso considerado para el MVP de RutiMed.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237575" y="246357"/>
            <a:ext cx="3438270" cy="782343"/>
          </a:xfrm>
          <a:custGeom>
            <a:avLst/>
            <a:gdLst/>
            <a:ahLst/>
            <a:cxnLst/>
            <a:rect r="r" b="b" t="t" l="l"/>
            <a:pathLst>
              <a:path h="782343" w="3438270">
                <a:moveTo>
                  <a:pt x="0" y="0"/>
                </a:moveTo>
                <a:lnTo>
                  <a:pt x="3438270" y="0"/>
                </a:lnTo>
                <a:lnTo>
                  <a:pt x="3438270" y="782343"/>
                </a:lnTo>
                <a:lnTo>
                  <a:pt x="0" y="7823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6789" r="0" b="-172693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7280" y="3197221"/>
            <a:ext cx="17011611" cy="5060954"/>
          </a:xfrm>
          <a:custGeom>
            <a:avLst/>
            <a:gdLst/>
            <a:ahLst/>
            <a:cxnLst/>
            <a:rect r="r" b="b" t="t" l="l"/>
            <a:pathLst>
              <a:path h="5060954" w="17011611">
                <a:moveTo>
                  <a:pt x="0" y="0"/>
                </a:moveTo>
                <a:lnTo>
                  <a:pt x="17011611" y="0"/>
                </a:lnTo>
                <a:lnTo>
                  <a:pt x="17011611" y="5060954"/>
                </a:lnTo>
                <a:lnTo>
                  <a:pt x="0" y="5060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58942" y="630301"/>
            <a:ext cx="10570115" cy="882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655"/>
              </a:lnSpc>
              <a:spcBef>
                <a:spcPct val="0"/>
              </a:spcBef>
            </a:pPr>
            <a:r>
              <a:rPr lang="en-US" b="true" sz="6399" spc="-294" strike="noStrike" u="none">
                <a:solidFill>
                  <a:srgbClr val="1A7FA8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Procesos de negocio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68920" y="2264300"/>
            <a:ext cx="16711115" cy="539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080"/>
              </a:lnSpc>
            </a:pPr>
            <a:r>
              <a:rPr lang="en-US" b="true" sz="4000" spc="-18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Fluj</a:t>
            </a:r>
            <a:r>
              <a:rPr lang="en-US" b="true" sz="4000" spc="-18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o propuesto de registro posterior a una cita médica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077514"/>
            <a:ext cx="14603536" cy="399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958"/>
              </a:lnSpc>
            </a:pPr>
            <a:r>
              <a:rPr lang="en-US" b="true" sz="2900" spc="-13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Rep</a:t>
            </a:r>
            <a:r>
              <a:rPr lang="en-US" b="true" sz="2900" spc="-13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resentación preliminar del proceso considerado para el MVP de RutiMed.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73089" y="1343674"/>
            <a:ext cx="4174892" cy="3703014"/>
            <a:chOff x="0" y="0"/>
            <a:chExt cx="3825936" cy="3393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25936" cy="3393499"/>
            </a:xfrm>
            <a:custGeom>
              <a:avLst/>
              <a:gdLst/>
              <a:ahLst/>
              <a:cxnLst/>
              <a:rect r="r" b="b" t="t" l="l"/>
              <a:pathLst>
                <a:path h="3393499" w="3825936">
                  <a:moveTo>
                    <a:pt x="70467" y="0"/>
                  </a:moveTo>
                  <a:lnTo>
                    <a:pt x="3755469" y="0"/>
                  </a:lnTo>
                  <a:cubicBezTo>
                    <a:pt x="3774158" y="0"/>
                    <a:pt x="3792082" y="7424"/>
                    <a:pt x="3805297" y="20639"/>
                  </a:cubicBezTo>
                  <a:cubicBezTo>
                    <a:pt x="3818512" y="33855"/>
                    <a:pt x="3825936" y="51778"/>
                    <a:pt x="3825936" y="70467"/>
                  </a:cubicBezTo>
                  <a:lnTo>
                    <a:pt x="3825936" y="3323032"/>
                  </a:lnTo>
                  <a:cubicBezTo>
                    <a:pt x="3825936" y="3361950"/>
                    <a:pt x="3794387" y="3393499"/>
                    <a:pt x="3755469" y="3393499"/>
                  </a:cubicBezTo>
                  <a:lnTo>
                    <a:pt x="70467" y="3393499"/>
                  </a:lnTo>
                  <a:cubicBezTo>
                    <a:pt x="31549" y="3393499"/>
                    <a:pt x="0" y="3361950"/>
                    <a:pt x="0" y="3323032"/>
                  </a:cubicBezTo>
                  <a:lnTo>
                    <a:pt x="0" y="70467"/>
                  </a:lnTo>
                  <a:cubicBezTo>
                    <a:pt x="0" y="31549"/>
                    <a:pt x="31549" y="0"/>
                    <a:pt x="70467" y="0"/>
                  </a:cubicBezTo>
                  <a:close/>
                </a:path>
              </a:pathLst>
            </a:custGeom>
            <a:solidFill>
              <a:srgbClr val="D4EE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825936" cy="3422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96717" y="1558773"/>
            <a:ext cx="3727636" cy="3272817"/>
            <a:chOff x="0" y="0"/>
            <a:chExt cx="3416064" cy="29992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16064" cy="2999260"/>
            </a:xfrm>
            <a:custGeom>
              <a:avLst/>
              <a:gdLst/>
              <a:ahLst/>
              <a:cxnLst/>
              <a:rect r="r" b="b" t="t" l="l"/>
              <a:pathLst>
                <a:path h="2999260" w="3416064">
                  <a:moveTo>
                    <a:pt x="45692" y="0"/>
                  </a:moveTo>
                  <a:lnTo>
                    <a:pt x="3370372" y="0"/>
                  </a:lnTo>
                  <a:cubicBezTo>
                    <a:pt x="3382490" y="0"/>
                    <a:pt x="3394112" y="4814"/>
                    <a:pt x="3402681" y="13383"/>
                  </a:cubicBezTo>
                  <a:cubicBezTo>
                    <a:pt x="3411250" y="21952"/>
                    <a:pt x="3416064" y="33574"/>
                    <a:pt x="3416064" y="45692"/>
                  </a:cubicBezTo>
                  <a:lnTo>
                    <a:pt x="3416064" y="2953569"/>
                  </a:lnTo>
                  <a:cubicBezTo>
                    <a:pt x="3416064" y="2965687"/>
                    <a:pt x="3411250" y="2977309"/>
                    <a:pt x="3402681" y="2985878"/>
                  </a:cubicBezTo>
                  <a:cubicBezTo>
                    <a:pt x="3394112" y="2994446"/>
                    <a:pt x="3382490" y="2999260"/>
                    <a:pt x="3370372" y="2999260"/>
                  </a:cubicBezTo>
                  <a:lnTo>
                    <a:pt x="45692" y="2999260"/>
                  </a:lnTo>
                  <a:cubicBezTo>
                    <a:pt x="20457" y="2999260"/>
                    <a:pt x="0" y="2978803"/>
                    <a:pt x="0" y="2953569"/>
                  </a:cubicBezTo>
                  <a:lnTo>
                    <a:pt x="0" y="45692"/>
                  </a:lnTo>
                  <a:cubicBezTo>
                    <a:pt x="0" y="20457"/>
                    <a:pt x="20457" y="0"/>
                    <a:pt x="45692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3416064" cy="30278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955752" y="5240312"/>
            <a:ext cx="4174892" cy="3703014"/>
            <a:chOff x="0" y="0"/>
            <a:chExt cx="3825936" cy="3393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25936" cy="3393499"/>
            </a:xfrm>
            <a:custGeom>
              <a:avLst/>
              <a:gdLst/>
              <a:ahLst/>
              <a:cxnLst/>
              <a:rect r="r" b="b" t="t" l="l"/>
              <a:pathLst>
                <a:path h="3393499" w="3825936">
                  <a:moveTo>
                    <a:pt x="70467" y="0"/>
                  </a:moveTo>
                  <a:lnTo>
                    <a:pt x="3755469" y="0"/>
                  </a:lnTo>
                  <a:cubicBezTo>
                    <a:pt x="3774158" y="0"/>
                    <a:pt x="3792082" y="7424"/>
                    <a:pt x="3805297" y="20639"/>
                  </a:cubicBezTo>
                  <a:cubicBezTo>
                    <a:pt x="3818512" y="33855"/>
                    <a:pt x="3825936" y="51778"/>
                    <a:pt x="3825936" y="70467"/>
                  </a:cubicBezTo>
                  <a:lnTo>
                    <a:pt x="3825936" y="3323032"/>
                  </a:lnTo>
                  <a:cubicBezTo>
                    <a:pt x="3825936" y="3361950"/>
                    <a:pt x="3794387" y="3393499"/>
                    <a:pt x="3755469" y="3393499"/>
                  </a:cubicBezTo>
                  <a:lnTo>
                    <a:pt x="70467" y="3393499"/>
                  </a:lnTo>
                  <a:cubicBezTo>
                    <a:pt x="31549" y="3393499"/>
                    <a:pt x="0" y="3361950"/>
                    <a:pt x="0" y="3323032"/>
                  </a:cubicBezTo>
                  <a:lnTo>
                    <a:pt x="0" y="70467"/>
                  </a:lnTo>
                  <a:cubicBezTo>
                    <a:pt x="0" y="31549"/>
                    <a:pt x="31549" y="0"/>
                    <a:pt x="70467" y="0"/>
                  </a:cubicBezTo>
                  <a:close/>
                </a:path>
              </a:pathLst>
            </a:custGeom>
            <a:solidFill>
              <a:srgbClr val="D4EEF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3825936" cy="3422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179380" y="5455410"/>
            <a:ext cx="3727636" cy="3272817"/>
            <a:chOff x="0" y="0"/>
            <a:chExt cx="3416064" cy="29992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16064" cy="2999260"/>
            </a:xfrm>
            <a:custGeom>
              <a:avLst/>
              <a:gdLst/>
              <a:ahLst/>
              <a:cxnLst/>
              <a:rect r="r" b="b" t="t" l="l"/>
              <a:pathLst>
                <a:path h="2999260" w="3416064">
                  <a:moveTo>
                    <a:pt x="45692" y="0"/>
                  </a:moveTo>
                  <a:lnTo>
                    <a:pt x="3370372" y="0"/>
                  </a:lnTo>
                  <a:cubicBezTo>
                    <a:pt x="3382490" y="0"/>
                    <a:pt x="3394112" y="4814"/>
                    <a:pt x="3402681" y="13383"/>
                  </a:cubicBezTo>
                  <a:cubicBezTo>
                    <a:pt x="3411250" y="21952"/>
                    <a:pt x="3416064" y="33574"/>
                    <a:pt x="3416064" y="45692"/>
                  </a:cubicBezTo>
                  <a:lnTo>
                    <a:pt x="3416064" y="2953569"/>
                  </a:lnTo>
                  <a:cubicBezTo>
                    <a:pt x="3416064" y="2965687"/>
                    <a:pt x="3411250" y="2977309"/>
                    <a:pt x="3402681" y="2985878"/>
                  </a:cubicBezTo>
                  <a:cubicBezTo>
                    <a:pt x="3394112" y="2994446"/>
                    <a:pt x="3382490" y="2999260"/>
                    <a:pt x="3370372" y="2999260"/>
                  </a:cubicBezTo>
                  <a:lnTo>
                    <a:pt x="45692" y="2999260"/>
                  </a:lnTo>
                  <a:cubicBezTo>
                    <a:pt x="20457" y="2999260"/>
                    <a:pt x="0" y="2978803"/>
                    <a:pt x="0" y="2953569"/>
                  </a:cubicBezTo>
                  <a:lnTo>
                    <a:pt x="0" y="45692"/>
                  </a:lnTo>
                  <a:cubicBezTo>
                    <a:pt x="0" y="20457"/>
                    <a:pt x="20457" y="0"/>
                    <a:pt x="45692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3416064" cy="30278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767324" y="1343674"/>
            <a:ext cx="4174892" cy="3703014"/>
            <a:chOff x="0" y="0"/>
            <a:chExt cx="3825936" cy="3393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25936" cy="3393499"/>
            </a:xfrm>
            <a:custGeom>
              <a:avLst/>
              <a:gdLst/>
              <a:ahLst/>
              <a:cxnLst/>
              <a:rect r="r" b="b" t="t" l="l"/>
              <a:pathLst>
                <a:path h="3393499" w="3825936">
                  <a:moveTo>
                    <a:pt x="70467" y="0"/>
                  </a:moveTo>
                  <a:lnTo>
                    <a:pt x="3755469" y="0"/>
                  </a:lnTo>
                  <a:cubicBezTo>
                    <a:pt x="3774158" y="0"/>
                    <a:pt x="3792082" y="7424"/>
                    <a:pt x="3805297" y="20639"/>
                  </a:cubicBezTo>
                  <a:cubicBezTo>
                    <a:pt x="3818512" y="33855"/>
                    <a:pt x="3825936" y="51778"/>
                    <a:pt x="3825936" y="70467"/>
                  </a:cubicBezTo>
                  <a:lnTo>
                    <a:pt x="3825936" y="3323032"/>
                  </a:lnTo>
                  <a:cubicBezTo>
                    <a:pt x="3825936" y="3361950"/>
                    <a:pt x="3794387" y="3393499"/>
                    <a:pt x="3755469" y="3393499"/>
                  </a:cubicBezTo>
                  <a:lnTo>
                    <a:pt x="70467" y="3393499"/>
                  </a:lnTo>
                  <a:cubicBezTo>
                    <a:pt x="31549" y="3393499"/>
                    <a:pt x="0" y="3361950"/>
                    <a:pt x="0" y="3323032"/>
                  </a:cubicBezTo>
                  <a:lnTo>
                    <a:pt x="0" y="70467"/>
                  </a:lnTo>
                  <a:cubicBezTo>
                    <a:pt x="0" y="31549"/>
                    <a:pt x="31549" y="0"/>
                    <a:pt x="70467" y="0"/>
                  </a:cubicBezTo>
                  <a:close/>
                </a:path>
              </a:pathLst>
            </a:custGeom>
            <a:solidFill>
              <a:srgbClr val="D4EEF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3825936" cy="3422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990952" y="1558773"/>
            <a:ext cx="3727636" cy="3272817"/>
            <a:chOff x="0" y="0"/>
            <a:chExt cx="3416064" cy="29992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416064" cy="2999260"/>
            </a:xfrm>
            <a:custGeom>
              <a:avLst/>
              <a:gdLst/>
              <a:ahLst/>
              <a:cxnLst/>
              <a:rect r="r" b="b" t="t" l="l"/>
              <a:pathLst>
                <a:path h="2999260" w="3416064">
                  <a:moveTo>
                    <a:pt x="45692" y="0"/>
                  </a:moveTo>
                  <a:lnTo>
                    <a:pt x="3370372" y="0"/>
                  </a:lnTo>
                  <a:cubicBezTo>
                    <a:pt x="3382490" y="0"/>
                    <a:pt x="3394112" y="4814"/>
                    <a:pt x="3402681" y="13383"/>
                  </a:cubicBezTo>
                  <a:cubicBezTo>
                    <a:pt x="3411250" y="21952"/>
                    <a:pt x="3416064" y="33574"/>
                    <a:pt x="3416064" y="45692"/>
                  </a:cubicBezTo>
                  <a:lnTo>
                    <a:pt x="3416064" y="2953569"/>
                  </a:lnTo>
                  <a:cubicBezTo>
                    <a:pt x="3416064" y="2965687"/>
                    <a:pt x="3411250" y="2977309"/>
                    <a:pt x="3402681" y="2985878"/>
                  </a:cubicBezTo>
                  <a:cubicBezTo>
                    <a:pt x="3394112" y="2994446"/>
                    <a:pt x="3382490" y="2999260"/>
                    <a:pt x="3370372" y="2999260"/>
                  </a:cubicBezTo>
                  <a:lnTo>
                    <a:pt x="45692" y="2999260"/>
                  </a:lnTo>
                  <a:cubicBezTo>
                    <a:pt x="20457" y="2999260"/>
                    <a:pt x="0" y="2978803"/>
                    <a:pt x="0" y="2953569"/>
                  </a:cubicBezTo>
                  <a:lnTo>
                    <a:pt x="0" y="45692"/>
                  </a:lnTo>
                  <a:cubicBezTo>
                    <a:pt x="0" y="20457"/>
                    <a:pt x="20457" y="0"/>
                    <a:pt x="45692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3416064" cy="30278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373089" y="5240312"/>
            <a:ext cx="8569127" cy="3703014"/>
            <a:chOff x="0" y="0"/>
            <a:chExt cx="7852882" cy="3393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852882" cy="3393499"/>
            </a:xfrm>
            <a:custGeom>
              <a:avLst/>
              <a:gdLst/>
              <a:ahLst/>
              <a:cxnLst/>
              <a:rect r="r" b="b" t="t" l="l"/>
              <a:pathLst>
                <a:path h="3393499" w="7852882">
                  <a:moveTo>
                    <a:pt x="34332" y="0"/>
                  </a:moveTo>
                  <a:lnTo>
                    <a:pt x="7818550" y="0"/>
                  </a:lnTo>
                  <a:cubicBezTo>
                    <a:pt x="7837511" y="0"/>
                    <a:pt x="7852882" y="15371"/>
                    <a:pt x="7852882" y="34332"/>
                  </a:cubicBezTo>
                  <a:lnTo>
                    <a:pt x="7852882" y="3359168"/>
                  </a:lnTo>
                  <a:cubicBezTo>
                    <a:pt x="7852882" y="3368273"/>
                    <a:pt x="7849265" y="3377005"/>
                    <a:pt x="7842827" y="3383444"/>
                  </a:cubicBezTo>
                  <a:cubicBezTo>
                    <a:pt x="7836388" y="3389882"/>
                    <a:pt x="7827656" y="3393499"/>
                    <a:pt x="7818550" y="3393499"/>
                  </a:cubicBezTo>
                  <a:lnTo>
                    <a:pt x="34332" y="3393499"/>
                  </a:lnTo>
                  <a:cubicBezTo>
                    <a:pt x="15371" y="3393499"/>
                    <a:pt x="0" y="3378129"/>
                    <a:pt x="0" y="3359168"/>
                  </a:cubicBezTo>
                  <a:lnTo>
                    <a:pt x="0" y="34332"/>
                  </a:lnTo>
                  <a:cubicBezTo>
                    <a:pt x="0" y="15371"/>
                    <a:pt x="15371" y="0"/>
                    <a:pt x="34332" y="0"/>
                  </a:cubicBezTo>
                  <a:close/>
                </a:path>
              </a:pathLst>
            </a:custGeom>
            <a:solidFill>
              <a:srgbClr val="D4EEF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7852882" cy="3422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596717" y="5455410"/>
            <a:ext cx="8121871" cy="3272817"/>
            <a:chOff x="0" y="0"/>
            <a:chExt cx="7443010" cy="29992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443009" cy="2999260"/>
            </a:xfrm>
            <a:custGeom>
              <a:avLst/>
              <a:gdLst/>
              <a:ahLst/>
              <a:cxnLst/>
              <a:rect r="r" b="b" t="t" l="l"/>
              <a:pathLst>
                <a:path h="2999260" w="7443009">
                  <a:moveTo>
                    <a:pt x="20971" y="0"/>
                  </a:moveTo>
                  <a:lnTo>
                    <a:pt x="7422038" y="0"/>
                  </a:lnTo>
                  <a:cubicBezTo>
                    <a:pt x="7433621" y="0"/>
                    <a:pt x="7443009" y="9389"/>
                    <a:pt x="7443009" y="20971"/>
                  </a:cubicBezTo>
                  <a:lnTo>
                    <a:pt x="7443009" y="2978290"/>
                  </a:lnTo>
                  <a:cubicBezTo>
                    <a:pt x="7443009" y="2989871"/>
                    <a:pt x="7433621" y="2999260"/>
                    <a:pt x="7422038" y="2999260"/>
                  </a:cubicBezTo>
                  <a:lnTo>
                    <a:pt x="20971" y="2999260"/>
                  </a:lnTo>
                  <a:cubicBezTo>
                    <a:pt x="9389" y="2999260"/>
                    <a:pt x="0" y="2989871"/>
                    <a:pt x="0" y="2978290"/>
                  </a:cubicBezTo>
                  <a:lnTo>
                    <a:pt x="0" y="20971"/>
                  </a:lnTo>
                  <a:cubicBezTo>
                    <a:pt x="0" y="9389"/>
                    <a:pt x="9389" y="0"/>
                    <a:pt x="20971" y="0"/>
                  </a:cubicBezTo>
                  <a:close/>
                </a:path>
              </a:pathLst>
            </a:custGeom>
            <a:ln w="57150" cap="rnd">
              <a:solidFill>
                <a:srgbClr val="FBF6F1"/>
              </a:solidFill>
              <a:prstDash val="dash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7443010" cy="30278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8826916" y="2834943"/>
            <a:ext cx="3284877" cy="1709124"/>
          </a:xfrm>
          <a:custGeom>
            <a:avLst/>
            <a:gdLst/>
            <a:ahLst/>
            <a:cxnLst/>
            <a:rect r="r" b="b" t="t" l="l"/>
            <a:pathLst>
              <a:path h="1709124" w="3284877">
                <a:moveTo>
                  <a:pt x="0" y="0"/>
                </a:moveTo>
                <a:lnTo>
                  <a:pt x="3284877" y="0"/>
                </a:lnTo>
                <a:lnTo>
                  <a:pt x="3284877" y="1709124"/>
                </a:lnTo>
                <a:lnTo>
                  <a:pt x="0" y="17091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328" r="0" b="-23628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3497975" y="2949676"/>
            <a:ext cx="2713589" cy="1660349"/>
          </a:xfrm>
          <a:custGeom>
            <a:avLst/>
            <a:gdLst/>
            <a:ahLst/>
            <a:cxnLst/>
            <a:rect r="r" b="b" t="t" l="l"/>
            <a:pathLst>
              <a:path h="1660349" w="2713589">
                <a:moveTo>
                  <a:pt x="0" y="0"/>
                </a:moveTo>
                <a:lnTo>
                  <a:pt x="2713589" y="0"/>
                </a:lnTo>
                <a:lnTo>
                  <a:pt x="2713589" y="1660348"/>
                </a:lnTo>
                <a:lnTo>
                  <a:pt x="0" y="1660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4400759" y="7038272"/>
            <a:ext cx="3284877" cy="1505734"/>
          </a:xfrm>
          <a:custGeom>
            <a:avLst/>
            <a:gdLst/>
            <a:ahLst/>
            <a:cxnLst/>
            <a:rect r="r" b="b" t="t" l="l"/>
            <a:pathLst>
              <a:path h="1505734" w="3284877">
                <a:moveTo>
                  <a:pt x="0" y="0"/>
                </a:moveTo>
                <a:lnTo>
                  <a:pt x="3284878" y="0"/>
                </a:lnTo>
                <a:lnTo>
                  <a:pt x="3284878" y="1505734"/>
                </a:lnTo>
                <a:lnTo>
                  <a:pt x="0" y="150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029573" y="6400898"/>
            <a:ext cx="3737751" cy="866244"/>
          </a:xfrm>
          <a:custGeom>
            <a:avLst/>
            <a:gdLst/>
            <a:ahLst/>
            <a:cxnLst/>
            <a:rect r="r" b="b" t="t" l="l"/>
            <a:pathLst>
              <a:path h="866244" w="3737751">
                <a:moveTo>
                  <a:pt x="0" y="0"/>
                </a:moveTo>
                <a:lnTo>
                  <a:pt x="3737751" y="0"/>
                </a:lnTo>
                <a:lnTo>
                  <a:pt x="3737751" y="866244"/>
                </a:lnTo>
                <a:lnTo>
                  <a:pt x="0" y="8662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463" t="-107339" r="-14838" b="-10892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9029573" y="7352867"/>
            <a:ext cx="3737751" cy="1191138"/>
          </a:xfrm>
          <a:custGeom>
            <a:avLst/>
            <a:gdLst/>
            <a:ahLst/>
            <a:cxnLst/>
            <a:rect r="r" b="b" t="t" l="l"/>
            <a:pathLst>
              <a:path h="1191138" w="3737751">
                <a:moveTo>
                  <a:pt x="0" y="0"/>
                </a:moveTo>
                <a:lnTo>
                  <a:pt x="3737751" y="0"/>
                </a:lnTo>
                <a:lnTo>
                  <a:pt x="3737751" y="1191139"/>
                </a:lnTo>
                <a:lnTo>
                  <a:pt x="0" y="11911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213" t="-51853" r="-9510" b="-57707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2990952" y="6400898"/>
            <a:ext cx="3462831" cy="866244"/>
          </a:xfrm>
          <a:custGeom>
            <a:avLst/>
            <a:gdLst/>
            <a:ahLst/>
            <a:cxnLst/>
            <a:rect r="r" b="b" t="t" l="l"/>
            <a:pathLst>
              <a:path h="866244" w="3462831">
                <a:moveTo>
                  <a:pt x="0" y="0"/>
                </a:moveTo>
                <a:lnTo>
                  <a:pt x="3462831" y="0"/>
                </a:lnTo>
                <a:lnTo>
                  <a:pt x="3462831" y="866244"/>
                </a:lnTo>
                <a:lnTo>
                  <a:pt x="0" y="8662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54287" r="0" b="-45589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2990952" y="7410429"/>
            <a:ext cx="3462831" cy="950114"/>
          </a:xfrm>
          <a:custGeom>
            <a:avLst/>
            <a:gdLst/>
            <a:ahLst/>
            <a:cxnLst/>
            <a:rect r="r" b="b" t="t" l="l"/>
            <a:pathLst>
              <a:path h="950114" w="3462831">
                <a:moveTo>
                  <a:pt x="0" y="0"/>
                </a:moveTo>
                <a:lnTo>
                  <a:pt x="3462831" y="0"/>
                </a:lnTo>
                <a:lnTo>
                  <a:pt x="3462831" y="950114"/>
                </a:lnTo>
                <a:lnTo>
                  <a:pt x="0" y="9501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9152891" y="2158972"/>
            <a:ext cx="2615286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0"/>
              </a:lnSpc>
              <a:spcBef>
                <a:spcPct val="0"/>
              </a:spcBef>
            </a:pPr>
            <a:r>
              <a:rPr lang="en-US" sz="4500" spc="-184" strike="noStrike" u="none">
                <a:solidFill>
                  <a:srgbClr val="1A7FA8"/>
                </a:solidFill>
                <a:latin typeface="Codec Pro"/>
                <a:ea typeface="Codec Pro"/>
                <a:cs typeface="Codec Pro"/>
                <a:sym typeface="Codec Pro"/>
              </a:rPr>
              <a:t>FrontEnd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744375" y="5868602"/>
            <a:ext cx="2615286" cy="1169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0"/>
              </a:lnSpc>
              <a:spcBef>
                <a:spcPct val="0"/>
              </a:spcBef>
            </a:pPr>
            <a:r>
              <a:rPr lang="en-US" sz="4500" spc="-184" strike="noStrike" u="none">
                <a:solidFill>
                  <a:srgbClr val="1A7FA8"/>
                </a:solidFill>
                <a:latin typeface="Codec Pro"/>
                <a:ea typeface="Codec Pro"/>
                <a:cs typeface="Codec Pro"/>
                <a:sym typeface="Codec Pro"/>
              </a:rPr>
              <a:t>Base de datos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547127" y="2158972"/>
            <a:ext cx="2615286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0"/>
              </a:lnSpc>
              <a:spcBef>
                <a:spcPct val="0"/>
              </a:spcBef>
            </a:pPr>
            <a:r>
              <a:rPr lang="en-US" sz="4500" spc="-184" strike="noStrike" u="none">
                <a:solidFill>
                  <a:srgbClr val="1A7FA8"/>
                </a:solidFill>
                <a:latin typeface="Codec Pro"/>
                <a:ea typeface="Codec Pro"/>
                <a:cs typeface="Codec Pro"/>
                <a:sym typeface="Codec Pro"/>
              </a:rPr>
              <a:t>Backend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323083" y="5638732"/>
            <a:ext cx="6888481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0"/>
              </a:lnSpc>
              <a:spcBef>
                <a:spcPct val="0"/>
              </a:spcBef>
            </a:pPr>
            <a:r>
              <a:rPr lang="en-US" sz="4500" spc="-184" strike="noStrike" u="none">
                <a:solidFill>
                  <a:srgbClr val="1A7FA8"/>
                </a:solidFill>
                <a:latin typeface="Codec Pro"/>
                <a:ea typeface="Codec Pro"/>
                <a:cs typeface="Codec Pro"/>
                <a:sym typeface="Codec Pro"/>
              </a:rPr>
              <a:t>Otras herramientas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50611" y="2596169"/>
            <a:ext cx="5990273" cy="179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6859"/>
              </a:lnSpc>
              <a:spcBef>
                <a:spcPct val="0"/>
              </a:spcBef>
            </a:pPr>
            <a:r>
              <a:rPr lang="en-US" b="true" sz="6999" spc="-321" strike="noStrike" u="none">
                <a:solidFill>
                  <a:srgbClr val="1A7FA8"/>
                </a:solidFill>
                <a:latin typeface="Raleway Bold"/>
                <a:ea typeface="Raleway Bold"/>
                <a:cs typeface="Raleway Bold"/>
                <a:sym typeface="Raleway Bold"/>
              </a:rPr>
              <a:t>Tecnologías utilizadas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4237575" y="246357"/>
            <a:ext cx="3438270" cy="782343"/>
          </a:xfrm>
          <a:custGeom>
            <a:avLst/>
            <a:gdLst/>
            <a:ahLst/>
            <a:cxnLst/>
            <a:rect r="r" b="b" t="t" l="l"/>
            <a:pathLst>
              <a:path h="782343" w="3438270">
                <a:moveTo>
                  <a:pt x="0" y="0"/>
                </a:moveTo>
                <a:lnTo>
                  <a:pt x="3438270" y="0"/>
                </a:lnTo>
                <a:lnTo>
                  <a:pt x="3438270" y="782343"/>
                </a:lnTo>
                <a:lnTo>
                  <a:pt x="0" y="7823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166789" r="0" b="-172693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6715" y="3377925"/>
            <a:ext cx="17833621" cy="6234337"/>
          </a:xfrm>
          <a:custGeom>
            <a:avLst/>
            <a:gdLst/>
            <a:ahLst/>
            <a:cxnLst/>
            <a:rect r="r" b="b" t="t" l="l"/>
            <a:pathLst>
              <a:path h="6234337" w="17833621">
                <a:moveTo>
                  <a:pt x="0" y="0"/>
                </a:moveTo>
                <a:lnTo>
                  <a:pt x="17833620" y="0"/>
                </a:lnTo>
                <a:lnTo>
                  <a:pt x="17833620" y="6234337"/>
                </a:lnTo>
                <a:lnTo>
                  <a:pt x="0" y="62343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54873" y="987293"/>
            <a:ext cx="1079730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439"/>
              </a:lnSpc>
              <a:spcBef>
                <a:spcPct val="0"/>
              </a:spcBef>
            </a:pPr>
            <a:r>
              <a:rPr lang="en-US" b="true" sz="6999" spc="-321" strike="noStrike" u="none">
                <a:solidFill>
                  <a:srgbClr val="1A7FA8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Modelo de datos propuesto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15706" y="2185774"/>
            <a:ext cx="15611351" cy="915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468"/>
              </a:lnSpc>
            </a:pPr>
            <a:r>
              <a:rPr lang="en-US" b="true" sz="3400" spc="-156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</a:t>
            </a:r>
            <a:r>
              <a:rPr lang="en-US" b="true" sz="3400" spc="-156">
                <a:solidFill>
                  <a:srgbClr val="000000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ropuesta inicial del modelo de datos, sujeta a refinamiento durante el desarrollo del producto.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237575" y="246357"/>
            <a:ext cx="3438270" cy="782343"/>
          </a:xfrm>
          <a:custGeom>
            <a:avLst/>
            <a:gdLst/>
            <a:ahLst/>
            <a:cxnLst/>
            <a:rect r="r" b="b" t="t" l="l"/>
            <a:pathLst>
              <a:path h="782343" w="3438270">
                <a:moveTo>
                  <a:pt x="0" y="0"/>
                </a:moveTo>
                <a:lnTo>
                  <a:pt x="3438270" y="0"/>
                </a:lnTo>
                <a:lnTo>
                  <a:pt x="3438270" y="782343"/>
                </a:lnTo>
                <a:lnTo>
                  <a:pt x="0" y="7823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6789" r="0" b="-172693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7722" y="2500970"/>
            <a:ext cx="7762973" cy="5285060"/>
          </a:xfrm>
          <a:custGeom>
            <a:avLst/>
            <a:gdLst/>
            <a:ahLst/>
            <a:cxnLst/>
            <a:rect r="r" b="b" t="t" l="l"/>
            <a:pathLst>
              <a:path h="5285060" w="7762973">
                <a:moveTo>
                  <a:pt x="0" y="0"/>
                </a:moveTo>
                <a:lnTo>
                  <a:pt x="7762973" y="0"/>
                </a:lnTo>
                <a:lnTo>
                  <a:pt x="7762973" y="5285060"/>
                </a:lnTo>
                <a:lnTo>
                  <a:pt x="0" y="52850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49386" y="2500970"/>
            <a:ext cx="7909914" cy="5285060"/>
          </a:xfrm>
          <a:custGeom>
            <a:avLst/>
            <a:gdLst/>
            <a:ahLst/>
            <a:cxnLst/>
            <a:rect r="r" b="b" t="t" l="l"/>
            <a:pathLst>
              <a:path h="5285060" w="7909914">
                <a:moveTo>
                  <a:pt x="0" y="0"/>
                </a:moveTo>
                <a:lnTo>
                  <a:pt x="7909914" y="0"/>
                </a:lnTo>
                <a:lnTo>
                  <a:pt x="7909914" y="5285060"/>
                </a:lnTo>
                <a:lnTo>
                  <a:pt x="0" y="52850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58895" y="961378"/>
            <a:ext cx="1037020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1">
              <a:lnSpc>
                <a:spcPts val="6439"/>
              </a:lnSpc>
              <a:spcBef>
                <a:spcPct val="0"/>
              </a:spcBef>
            </a:pPr>
            <a:r>
              <a:rPr lang="en-US" b="true" sz="6999" spc="-321" strike="noStrike" u="none">
                <a:solidFill>
                  <a:srgbClr val="1A7FA8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Prototipos de interfaz web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237575" y="246357"/>
            <a:ext cx="3438270" cy="782343"/>
          </a:xfrm>
          <a:custGeom>
            <a:avLst/>
            <a:gdLst/>
            <a:ahLst/>
            <a:cxnLst/>
            <a:rect r="r" b="b" t="t" l="l"/>
            <a:pathLst>
              <a:path h="782343" w="3438270">
                <a:moveTo>
                  <a:pt x="0" y="0"/>
                </a:moveTo>
                <a:lnTo>
                  <a:pt x="3438270" y="0"/>
                </a:lnTo>
                <a:lnTo>
                  <a:pt x="3438270" y="782343"/>
                </a:lnTo>
                <a:lnTo>
                  <a:pt x="0" y="782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6789" r="0" b="-172693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04177" y="3167026"/>
            <a:ext cx="2703614" cy="5823169"/>
          </a:xfrm>
          <a:custGeom>
            <a:avLst/>
            <a:gdLst/>
            <a:ahLst/>
            <a:cxnLst/>
            <a:rect r="r" b="b" t="t" l="l"/>
            <a:pathLst>
              <a:path h="5823169" w="2703614">
                <a:moveTo>
                  <a:pt x="0" y="0"/>
                </a:moveTo>
                <a:lnTo>
                  <a:pt x="2703614" y="0"/>
                </a:lnTo>
                <a:lnTo>
                  <a:pt x="2703614" y="5823169"/>
                </a:lnTo>
                <a:lnTo>
                  <a:pt x="0" y="58231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60688" y="3162544"/>
            <a:ext cx="2766625" cy="5818694"/>
          </a:xfrm>
          <a:custGeom>
            <a:avLst/>
            <a:gdLst/>
            <a:ahLst/>
            <a:cxnLst/>
            <a:rect r="r" b="b" t="t" l="l"/>
            <a:pathLst>
              <a:path h="5818694" w="2766625">
                <a:moveTo>
                  <a:pt x="0" y="0"/>
                </a:moveTo>
                <a:lnTo>
                  <a:pt x="2766624" y="0"/>
                </a:lnTo>
                <a:lnTo>
                  <a:pt x="2766624" y="5818694"/>
                </a:lnTo>
                <a:lnTo>
                  <a:pt x="0" y="58186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63917" y="3146974"/>
            <a:ext cx="2719906" cy="5814212"/>
          </a:xfrm>
          <a:custGeom>
            <a:avLst/>
            <a:gdLst/>
            <a:ahLst/>
            <a:cxnLst/>
            <a:rect r="r" b="b" t="t" l="l"/>
            <a:pathLst>
              <a:path h="5814212" w="2719906">
                <a:moveTo>
                  <a:pt x="0" y="0"/>
                </a:moveTo>
                <a:lnTo>
                  <a:pt x="2719906" y="0"/>
                </a:lnTo>
                <a:lnTo>
                  <a:pt x="2719906" y="5814212"/>
                </a:lnTo>
                <a:lnTo>
                  <a:pt x="0" y="5814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312962" y="999478"/>
            <a:ext cx="11662077" cy="169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439"/>
              </a:lnSpc>
              <a:spcBef>
                <a:spcPct val="0"/>
              </a:spcBef>
            </a:pPr>
            <a:r>
              <a:rPr lang="en-US" b="true" sz="6999" spc="-321" strike="noStrike" u="none">
                <a:solidFill>
                  <a:srgbClr val="1A7FA8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Prototipos de interfaz mobile (responsive)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237575" y="246357"/>
            <a:ext cx="3438270" cy="782343"/>
          </a:xfrm>
          <a:custGeom>
            <a:avLst/>
            <a:gdLst/>
            <a:ahLst/>
            <a:cxnLst/>
            <a:rect r="r" b="b" t="t" l="l"/>
            <a:pathLst>
              <a:path h="782343" w="3438270">
                <a:moveTo>
                  <a:pt x="0" y="0"/>
                </a:moveTo>
                <a:lnTo>
                  <a:pt x="3438270" y="0"/>
                </a:lnTo>
                <a:lnTo>
                  <a:pt x="3438270" y="782343"/>
                </a:lnTo>
                <a:lnTo>
                  <a:pt x="0" y="7823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6789" r="0" b="-172693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4E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42669" y="1229226"/>
            <a:ext cx="12980714" cy="8029074"/>
            <a:chOff x="0" y="0"/>
            <a:chExt cx="5274524" cy="32624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74524" cy="3262497"/>
            </a:xfrm>
            <a:custGeom>
              <a:avLst/>
              <a:gdLst/>
              <a:ahLst/>
              <a:cxnLst/>
              <a:rect r="r" b="b" t="t" l="l"/>
              <a:pathLst>
                <a:path h="3262497" w="5274524">
                  <a:moveTo>
                    <a:pt x="22664" y="0"/>
                  </a:moveTo>
                  <a:lnTo>
                    <a:pt x="5251860" y="0"/>
                  </a:lnTo>
                  <a:cubicBezTo>
                    <a:pt x="5257871" y="0"/>
                    <a:pt x="5263635" y="2388"/>
                    <a:pt x="5267886" y="6638"/>
                  </a:cubicBezTo>
                  <a:cubicBezTo>
                    <a:pt x="5272136" y="10888"/>
                    <a:pt x="5274524" y="16653"/>
                    <a:pt x="5274524" y="22664"/>
                  </a:cubicBezTo>
                  <a:lnTo>
                    <a:pt x="5274524" y="3239833"/>
                  </a:lnTo>
                  <a:cubicBezTo>
                    <a:pt x="5274524" y="3252350"/>
                    <a:pt x="5264377" y="3262497"/>
                    <a:pt x="5251860" y="3262497"/>
                  </a:cubicBezTo>
                  <a:lnTo>
                    <a:pt x="22664" y="3262497"/>
                  </a:lnTo>
                  <a:cubicBezTo>
                    <a:pt x="10147" y="3262497"/>
                    <a:pt x="0" y="3252350"/>
                    <a:pt x="0" y="3239833"/>
                  </a:cubicBezTo>
                  <a:lnTo>
                    <a:pt x="0" y="22664"/>
                  </a:lnTo>
                  <a:cubicBezTo>
                    <a:pt x="0" y="10147"/>
                    <a:pt x="10147" y="0"/>
                    <a:pt x="22664" y="0"/>
                  </a:cubicBezTo>
                  <a:close/>
                </a:path>
              </a:pathLst>
            </a:custGeom>
            <a:solidFill>
              <a:srgbClr val="F0F8F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5274524" cy="3291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358623" y="1712119"/>
            <a:ext cx="10896706" cy="7004668"/>
            <a:chOff x="0" y="0"/>
            <a:chExt cx="4427718" cy="28462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27718" cy="2846245"/>
            </a:xfrm>
            <a:custGeom>
              <a:avLst/>
              <a:gdLst/>
              <a:ahLst/>
              <a:cxnLst/>
              <a:rect r="r" b="b" t="t" l="l"/>
              <a:pathLst>
                <a:path h="2846245" w="4427718">
                  <a:moveTo>
                    <a:pt x="15631" y="0"/>
                  </a:moveTo>
                  <a:lnTo>
                    <a:pt x="4412087" y="0"/>
                  </a:lnTo>
                  <a:cubicBezTo>
                    <a:pt x="4416233" y="0"/>
                    <a:pt x="4420208" y="1647"/>
                    <a:pt x="4423140" y="4578"/>
                  </a:cubicBezTo>
                  <a:cubicBezTo>
                    <a:pt x="4426071" y="7509"/>
                    <a:pt x="4427718" y="11485"/>
                    <a:pt x="4427718" y="15631"/>
                  </a:cubicBezTo>
                  <a:lnTo>
                    <a:pt x="4427718" y="2830614"/>
                  </a:lnTo>
                  <a:cubicBezTo>
                    <a:pt x="4427718" y="2834760"/>
                    <a:pt x="4426071" y="2838735"/>
                    <a:pt x="4423140" y="2841667"/>
                  </a:cubicBezTo>
                  <a:cubicBezTo>
                    <a:pt x="4420208" y="2844598"/>
                    <a:pt x="4416233" y="2846245"/>
                    <a:pt x="4412087" y="2846245"/>
                  </a:cubicBezTo>
                  <a:lnTo>
                    <a:pt x="15631" y="2846245"/>
                  </a:lnTo>
                  <a:cubicBezTo>
                    <a:pt x="11485" y="2846245"/>
                    <a:pt x="7509" y="2844598"/>
                    <a:pt x="4578" y="2841667"/>
                  </a:cubicBezTo>
                  <a:cubicBezTo>
                    <a:pt x="1647" y="2838735"/>
                    <a:pt x="0" y="2834760"/>
                    <a:pt x="0" y="2830614"/>
                  </a:cubicBezTo>
                  <a:lnTo>
                    <a:pt x="0" y="15631"/>
                  </a:lnTo>
                  <a:cubicBezTo>
                    <a:pt x="0" y="11485"/>
                    <a:pt x="1647" y="7509"/>
                    <a:pt x="4578" y="4578"/>
                  </a:cubicBezTo>
                  <a:cubicBezTo>
                    <a:pt x="7509" y="1647"/>
                    <a:pt x="11485" y="0"/>
                    <a:pt x="15631" y="0"/>
                  </a:cubicBezTo>
                  <a:close/>
                </a:path>
              </a:pathLst>
            </a:custGeom>
            <a:ln w="57150" cap="rnd">
              <a:solidFill>
                <a:srgbClr val="D4EEF8"/>
              </a:solidFill>
              <a:prstDash val="dash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427718" cy="2874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5036547" y="2007735"/>
            <a:ext cx="704418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439"/>
              </a:lnSpc>
              <a:spcBef>
                <a:spcPct val="0"/>
              </a:spcBef>
            </a:pPr>
            <a:r>
              <a:rPr lang="en-US" b="true" sz="6999" spc="-321" strike="noStrike" u="none">
                <a:solidFill>
                  <a:srgbClr val="1A7FA8"/>
                </a:solidFill>
                <a:latin typeface="Raleway Bold"/>
                <a:ea typeface="Raleway Bold"/>
                <a:cs typeface="Raleway Bold"/>
                <a:sym typeface="Raleway Bold"/>
              </a:rPr>
              <a:t>Conclusión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11385" y="3155655"/>
            <a:ext cx="9643283" cy="5871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70"/>
              </a:lnSpc>
              <a:spcBef>
                <a:spcPct val="0"/>
              </a:spcBef>
            </a:pPr>
            <a:r>
              <a:rPr lang="en-US" b="true" sz="3000" spc="-24" strike="noStrike" u="none">
                <a:solidFill>
                  <a:srgbClr val="1A7FA8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RutiMed se plantea como una propuesta orientada a mejorar la organización y continuidad del cuidado domiciliario, facilitando la coordinación entre familiares y cuidadores mediante la centralización de información relevante. A partir del desarrollo del producto se espera validar progresivamente sus funcionalidades, ajustar la propuesta según la retroalimentación obtenida y consolidar una solución que responda de manera clara y accesible a las necesidades identificadas.</a:t>
            </a:r>
          </a:p>
          <a:p>
            <a:pPr algn="ctr" marL="0" indent="0" lvl="0">
              <a:lnSpc>
                <a:spcPts val="3870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869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237575" y="246357"/>
            <a:ext cx="3438270" cy="782343"/>
          </a:xfrm>
          <a:custGeom>
            <a:avLst/>
            <a:gdLst/>
            <a:ahLst/>
            <a:cxnLst/>
            <a:rect r="r" b="b" t="t" l="l"/>
            <a:pathLst>
              <a:path h="782343" w="3438270">
                <a:moveTo>
                  <a:pt x="0" y="0"/>
                </a:moveTo>
                <a:lnTo>
                  <a:pt x="3438270" y="0"/>
                </a:lnTo>
                <a:lnTo>
                  <a:pt x="3438270" y="782343"/>
                </a:lnTo>
                <a:lnTo>
                  <a:pt x="0" y="7823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789" r="0" b="-172693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0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38735" y="1593647"/>
            <a:ext cx="7920565" cy="7099707"/>
          </a:xfrm>
          <a:custGeom>
            <a:avLst/>
            <a:gdLst/>
            <a:ahLst/>
            <a:cxnLst/>
            <a:rect r="r" b="b" t="t" l="l"/>
            <a:pathLst>
              <a:path h="7099707" w="7920565">
                <a:moveTo>
                  <a:pt x="0" y="0"/>
                </a:moveTo>
                <a:lnTo>
                  <a:pt x="7920565" y="0"/>
                </a:lnTo>
                <a:lnTo>
                  <a:pt x="7920565" y="7099706"/>
                </a:lnTo>
                <a:lnTo>
                  <a:pt x="0" y="7099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553753" y="3774785"/>
            <a:ext cx="7103691" cy="381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9880"/>
              </a:lnSpc>
              <a:spcBef>
                <a:spcPct val="0"/>
              </a:spcBef>
            </a:pPr>
            <a:r>
              <a:rPr lang="en-US" b="true" sz="9980" spc="-459" strike="noStrike" u="none">
                <a:solidFill>
                  <a:srgbClr val="1A7FA8"/>
                </a:solidFill>
                <a:latin typeface="Raleway Bold"/>
                <a:ea typeface="Raleway Bold"/>
                <a:cs typeface="Raleway Bold"/>
                <a:sym typeface="Raleway Bold"/>
              </a:rPr>
              <a:t>¡Muchas gracias por su atención!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47325" y="1669848"/>
            <a:ext cx="769667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27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1A7FA8"/>
                </a:solidFill>
                <a:latin typeface="Raleway Bold"/>
                <a:ea typeface="Raleway Bold"/>
                <a:cs typeface="Raleway Bold"/>
                <a:sym typeface="Raleway Bold"/>
              </a:rPr>
              <a:t>Portafolio de Título - Duoc UC sede Maipú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237575" y="246357"/>
            <a:ext cx="3438270" cy="782343"/>
          </a:xfrm>
          <a:custGeom>
            <a:avLst/>
            <a:gdLst/>
            <a:ahLst/>
            <a:cxnLst/>
            <a:rect r="r" b="b" t="t" l="l"/>
            <a:pathLst>
              <a:path h="782343" w="3438270">
                <a:moveTo>
                  <a:pt x="0" y="0"/>
                </a:moveTo>
                <a:lnTo>
                  <a:pt x="3438270" y="0"/>
                </a:lnTo>
                <a:lnTo>
                  <a:pt x="3438270" y="782343"/>
                </a:lnTo>
                <a:lnTo>
                  <a:pt x="0" y="782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6789" r="0" b="-172693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DAHS4dLtHrE</dc:identifier>
  <dcterms:modified xsi:type="dcterms:W3CDTF">2011-08-01T06:04:30Z</dcterms:modified>
  <cp:revision>1</cp:revision>
  <dc:title>Presentación Proyecto de Medicina Moderno Turquesa</dc:title>
</cp:coreProperties>
</file>